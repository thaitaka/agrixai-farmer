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B20"/>
                </a:solidFill>
                <a:latin typeface="Calibri"/>
              </a:defRPr>
            </a:pPr>
            <a:r>
              <a:rPr sz="1300" b="0" i="0" u="none" strike="noStrike">
                <a:solidFill>
                  <a:srgbClr val="1C2B20"/>
                </a:solidFill>
                <a:latin typeface="Calibri"/>
              </a:rPr>
              <a:t>Năng suất theo vụ trên cùng một lô (kg / 1.000 m²)</a:t>
            </a:r>
          </a:p>
        </c:rich>
      </c:tx>
      <c:layout/>
      <c:overlay val="0"/>
    </c:title>
    <c:autoTitleDeleted val="0"/>
    <c:plotArea>
      <c:layout/>
      <c:barChart>
        <c:barDir val="col"/>
        <c:grouping val="clustered"/>
        <c:varyColors val="0"/>
        <c:ser>
          <c:idx val="0"/>
          <c:order val="0"/>
          <c:tx>
            <c:strRef>
              <c:f>Sheet1!$B$1</c:f>
              <c:strCache>
                <c:ptCount val="1"/>
                <c:pt idx="0">
                  <c:v>Năng suất</c:v>
                </c:pt>
              </c:strCache>
            </c:strRef>
          </c:tx>
          <c:spPr>
            <a:solidFill>
              <a:srgbClr val="2E6F40"/>
            </a:solidFill>
            <a:effectLst/>
          </c:spPr>
          <c:invertIfNegative val="0"/>
          <c:dLbls>
            <c:numFmt formatCode="#,##0" sourceLinked="0"/>
            <c:txPr>
              <a:bodyPr/>
              <a:lstStyle/>
              <a:p>
                <a:pPr>
                  <a:defRPr b="0" i="0" strike="noStrike" sz="1100" u="none">
                    <a:solidFill>
                      <a:srgbClr val="1C2B20"/>
                    </a:solidFill>
                    <a:latin typeface="Arial"/>
                  </a:defRPr>
                </a:pPr>
              </a:p>
            </c:txPr>
            <c:showLegendKey val="0"/>
            <c:showVal val="1"/>
            <c:showCatName val="0"/>
            <c:showSerName val="0"/>
            <c:showPercent val="0"/>
            <c:showBubbleSize val="0"/>
            <c:showLeaderLines val="0"/>
          </c:dLbls>
          <c:cat>
            <c:multiLvlStrRef>
              <c:f>Sheet1!$A$2:$A$5</c:f>
              <c:multiLvlStrCache>
                <c:ptCount val="4"/>
                <c:lvl>
                  <c:pt idx="0">
                    <c:v>Đông 2024
Bắp cải</c:v>
                  </c:pt>
                  <c:pt idx="1">
                    <c:v>Xuân 2025
Cà chua</c:v>
                  </c:pt>
                  <c:pt idx="2">
                    <c:v>Thu 2025
Cà rốt</c:v>
                  </c:pt>
                  <c:pt idx="3">
                    <c:v>Xuân 2026
Cà chua</c:v>
                  </c:pt>
                </c:lvl>
              </c:multiLvlStrCache>
            </c:multiLvlStrRef>
          </c:cat>
          <c:val>
            <c:numRef>
              <c:f>Sheet1!$B$2:$B$5</c:f>
              <c:numCache>
                <c:formatCode>General</c:formatCode>
                <c:ptCount val="4"/>
                <c:pt idx="0">
                  <c:v>3500</c:v>
                </c:pt>
                <c:pt idx="1">
                  <c:v>4600</c:v>
                </c:pt>
                <c:pt idx="2">
                  <c:v>2800</c:v>
                </c:pt>
                <c:pt idx="3">
                  <c:v>4100</c:v>
                </c:pt>
              </c:numCache>
            </c:numRef>
          </c:val>
        </c:ser>
        <c:dLbls>
          <c:numFmt formatCode="#,##0" sourceLinked="0"/>
          <c:txPr>
            <a:bodyPr/>
            <a:lstStyle/>
            <a:p>
              <a:pPr>
                <a:defRPr b="0" i="0" strike="noStrike" sz="1100" u="none">
                  <a:solidFill>
                    <a:srgbClr val="1C2B2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6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B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2.png"/><Relationship Id="rId5" Type="http://schemas.openxmlformats.org/officeDocument/2006/relationships/image" Target="../media/image-11-5.png"/><Relationship Id="rId6" Type="http://schemas.openxmlformats.org/officeDocument/2006/relationships/image" Target="../media/image-11-2.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2E"/>
        </a:solidFill>
      </p:bgPr>
    </p:bg>
    <p:spTree>
      <p:nvGrpSpPr>
        <p:cNvPr id="1" name=""/>
        <p:cNvGrpSpPr/>
        <p:nvPr/>
      </p:nvGrpSpPr>
      <p:grpSpPr>
        <a:xfrm>
          <a:off x="0" y="0"/>
          <a:ext cx="0" cy="0"/>
          <a:chOff x="0" y="0"/>
          <a:chExt cx="0" cy="0"/>
        </a:xfrm>
      </p:grpSpPr>
      <p:sp>
        <p:nvSpPr>
          <p:cNvPr id="2" name="Shape 0"/>
          <p:cNvSpPr/>
          <p:nvPr/>
        </p:nvSpPr>
        <p:spPr>
          <a:xfrm>
            <a:off x="5592928" y="685800"/>
            <a:ext cx="1005840" cy="1005840"/>
          </a:xfrm>
          <a:prstGeom prst="ellipse">
            <a:avLst/>
          </a:prstGeom>
          <a:solidFill>
            <a:srgbClr val="2E6F40"/>
          </a:solidFill>
          <a:ln/>
        </p:spPr>
      </p:sp>
      <p:pic>
        <p:nvPicPr>
          <p:cNvPr id="3" name="Image 0" descr="C:\Users\Maxsys\AppData\Local\Temp\claude\d--AgriXAI-Farmer\9d658242-07c0-4b4a-b8de-708653b0dceb\scratchpad\pptx\icons\seedling.png">    </p:cNvPr>
          <p:cNvPicPr>
            <a:picLocks noChangeAspect="1"/>
          </p:cNvPicPr>
          <p:nvPr/>
        </p:nvPicPr>
        <p:blipFill>
          <a:blip r:embed="rId1"/>
          <a:stretch>
            <a:fillRect/>
          </a:stretch>
        </p:blipFill>
        <p:spPr>
          <a:xfrm>
            <a:off x="5723687" y="816559"/>
            <a:ext cx="744322" cy="744322"/>
          </a:xfrm>
          <a:prstGeom prst="rect">
            <a:avLst/>
          </a:prstGeom>
        </p:spPr>
      </p:pic>
      <p:sp>
        <p:nvSpPr>
          <p:cNvPr id="4" name="Text 1"/>
          <p:cNvSpPr txBox="1"/>
          <p:nvPr/>
        </p:nvSpPr>
        <p:spPr>
          <a:xfrm>
            <a:off x="0" y="1965960"/>
            <a:ext cx="12191695"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AgriLog V2.1</a:t>
            </a:r>
            <a:endParaRPr lang="en-US" sz="4800" dirty="0"/>
          </a:p>
        </p:txBody>
      </p:sp>
      <p:sp>
        <p:nvSpPr>
          <p:cNvPr id="5" name="Text 2"/>
          <p:cNvSpPr txBox="1"/>
          <p:nvPr/>
        </p:nvSpPr>
        <p:spPr>
          <a:xfrm>
            <a:off x="731520" y="3063240"/>
            <a:ext cx="10728655" cy="548640"/>
          </a:xfrm>
          <a:prstGeom prst="rect">
            <a:avLst/>
          </a:prstGeom>
          <a:noFill/>
          <a:ln/>
        </p:spPr>
        <p:txBody>
          <a:bodyPr wrap="square" lIns="0" tIns="0" rIns="0" bIns="0" rtlCol="0" anchor="ctr"/>
          <a:lstStyle/>
          <a:p>
            <a:pPr algn="ctr" indent="0" marL="0">
              <a:buNone/>
            </a:pPr>
            <a:r>
              <a:rPr lang="en-US" sz="1600" dirty="0">
                <a:solidFill>
                  <a:srgbClr val="BFD9C8"/>
                </a:solidFill>
                <a:latin typeface="Calibri" pitchFamily="34" charset="0"/>
                <a:ea typeface="Calibri" pitchFamily="34" charset="-122"/>
                <a:cs typeface="Calibri" pitchFamily="34" charset="-120"/>
              </a:rPr>
              <a:t>Lịch sử trồng trọt  ·  Ghi chú kèm ảnh/video  ·  Gợi ý theo mùa  ·  Tiền công  ·  Hướng dẫn có video</a:t>
            </a:r>
            <a:endParaRPr lang="en-US" sz="1600" dirty="0"/>
          </a:p>
        </p:txBody>
      </p:sp>
      <p:sp>
        <p:nvSpPr>
          <p:cNvPr id="6" name="Shape 3"/>
          <p:cNvSpPr/>
          <p:nvPr/>
        </p:nvSpPr>
        <p:spPr>
          <a:xfrm>
            <a:off x="4937760" y="3977640"/>
            <a:ext cx="2286000" cy="0"/>
          </a:xfrm>
          <a:prstGeom prst="line">
            <a:avLst/>
          </a:prstGeom>
          <a:noFill/>
          <a:ln w="12700">
            <a:solidFill>
              <a:srgbClr val="4C8A5C"/>
            </a:solidFill>
            <a:prstDash val="solid"/>
          </a:ln>
        </p:spPr>
      </p:sp>
      <p:sp>
        <p:nvSpPr>
          <p:cNvPr id="7" name="Text 4"/>
          <p:cNvSpPr txBox="1"/>
          <p:nvPr/>
        </p:nvSpPr>
        <p:spPr>
          <a:xfrm>
            <a:off x="0" y="4206240"/>
            <a:ext cx="12191695" cy="365760"/>
          </a:xfrm>
          <a:prstGeom prst="rect">
            <a:avLst/>
          </a:prstGeom>
          <a:noFill/>
          <a:ln/>
        </p:spPr>
        <p:txBody>
          <a:bodyPr wrap="square" lIns="0" tIns="0" rIns="0" bIns="0" rtlCol="0" anchor="ctr"/>
          <a:lstStyle/>
          <a:p>
            <a:pPr algn="ctr" indent="0" marL="0">
              <a:buNone/>
            </a:pPr>
            <a:r>
              <a:rPr lang="en-US" sz="1300" dirty="0">
                <a:solidFill>
                  <a:srgbClr val="BFD9C8"/>
                </a:solidFill>
                <a:latin typeface="Calibri" pitchFamily="34" charset="0"/>
                <a:ea typeface="Calibri" pitchFamily="34" charset="-122"/>
                <a:cs typeface="Calibri" pitchFamily="34" charset="-120"/>
              </a:rPr>
              <a:t>Bảo vệ đồ án tốt nghiệp  ·  30/09/2026</a:t>
            </a:r>
            <a:endParaRPr lang="en-US" sz="1300" dirty="0"/>
          </a:p>
        </p:txBody>
      </p:sp>
      <p:sp>
        <p:nvSpPr>
          <p:cNvPr id="8" name="Text 5"/>
          <p:cNvSpPr txBox="1"/>
          <p:nvPr/>
        </p:nvSpPr>
        <p:spPr>
          <a:xfrm>
            <a:off x="0" y="4617720"/>
            <a:ext cx="12191695" cy="365760"/>
          </a:xfrm>
          <a:prstGeom prst="rect">
            <a:avLst/>
          </a:prstGeom>
          <a:noFill/>
          <a:ln/>
        </p:spPr>
        <p:txBody>
          <a:bodyPr wrap="square" lIns="0" tIns="0" rIns="0" bIns="0" rtlCol="0" anchor="ctr"/>
          <a:lstStyle/>
          <a:p>
            <a:pPr algn="ctr" indent="0" marL="0">
              <a:buNone/>
            </a:pPr>
            <a:r>
              <a:rPr lang="en-US" sz="1300" b="1" dirty="0">
                <a:solidFill>
                  <a:srgbClr val="D9A441"/>
                </a:solidFill>
                <a:latin typeface="Calibri" pitchFamily="34" charset="0"/>
                <a:ea typeface="Calibri" pitchFamily="34" charset="-122"/>
                <a:cs typeface="Calibri" pitchFamily="34" charset="-120"/>
              </a:rPr>
              <a:t>Thái  ·  Khoa</a:t>
            </a:r>
            <a:endParaRPr lang="en-US" sz="1300" dirty="0"/>
          </a:p>
        </p:txBody>
      </p:sp>
      <p:sp>
        <p:nvSpPr>
          <p:cNvPr id="9" name="Text 6"/>
          <p:cNvSpPr txBox="1"/>
          <p:nvPr/>
        </p:nvSpPr>
        <p:spPr>
          <a:xfrm>
            <a:off x="0" y="6217920"/>
            <a:ext cx="12191695" cy="320040"/>
          </a:xfrm>
          <a:prstGeom prst="rect">
            <a:avLst/>
          </a:prstGeom>
          <a:noFill/>
          <a:ln/>
        </p:spPr>
        <p:txBody>
          <a:bodyPr wrap="square" lIns="0" tIns="0" rIns="0" bIns="0" rtlCol="0" anchor="ctr"/>
          <a:lstStyle/>
          <a:p>
            <a:pPr algn="ctr" indent="0" marL="0">
              <a:buNone/>
            </a:pPr>
            <a:r>
              <a:rPr lang="en-US" sz="1100" dirty="0">
                <a:solidFill>
                  <a:srgbClr val="4C8A5C"/>
                </a:solidFill>
                <a:latin typeface="Calibri" pitchFamily="34" charset="0"/>
                <a:ea typeface="Calibri" pitchFamily="34" charset="-122"/>
                <a:cs typeface="Calibri" pitchFamily="34" charset="-120"/>
              </a:rPr>
              <a:t>github.com/ThaiTaka/AgriXAI-Farmer  ·  PR #8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TỔNG QUAN</a:t>
            </a:r>
            <a:endParaRPr lang="en-US" sz="1200" dirty="0"/>
          </a:p>
        </p:txBody>
      </p:sp>
      <p:sp>
        <p:nvSpPr>
          <p:cNvPr id="3" name="Text 1"/>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2800" b="1" dirty="0">
                <a:solidFill>
                  <a:srgbClr val="1C2B20"/>
                </a:solidFill>
                <a:latin typeface="Cambria" pitchFamily="34" charset="0"/>
                <a:ea typeface="Cambria" pitchFamily="34" charset="-122"/>
                <a:cs typeface="Cambria" pitchFamily="34" charset="-120"/>
              </a:rPr>
              <a:t>5 tính năng canh tác trên nền offline-first</a:t>
            </a:r>
            <a:endParaRPr lang="en-US" sz="2800" dirty="0"/>
          </a:p>
        </p:txBody>
      </p:sp>
      <p:sp>
        <p:nvSpPr>
          <p:cNvPr id="4" name="Shape 2"/>
          <p:cNvSpPr/>
          <p:nvPr/>
        </p:nvSpPr>
        <p:spPr>
          <a:xfrm>
            <a:off x="640080" y="1691640"/>
            <a:ext cx="4846320" cy="4572000"/>
          </a:xfrm>
          <a:prstGeom prst="roundRect">
            <a:avLst>
              <a:gd name="adj" fmla="val 2400"/>
            </a:avLst>
          </a:prstGeom>
          <a:solidFill>
            <a:srgbClr val="EAF3EC"/>
          </a:solidFill>
          <a:ln/>
        </p:spPr>
      </p:sp>
      <p:sp>
        <p:nvSpPr>
          <p:cNvPr id="5" name="Text 3"/>
          <p:cNvSpPr txBox="1"/>
          <p:nvPr/>
        </p:nvSpPr>
        <p:spPr>
          <a:xfrm>
            <a:off x="960120" y="1965960"/>
            <a:ext cx="4206240" cy="365760"/>
          </a:xfrm>
          <a:prstGeom prst="rect">
            <a:avLst/>
          </a:prstGeom>
          <a:noFill/>
          <a:ln/>
        </p:spPr>
        <p:txBody>
          <a:bodyPr wrap="square" lIns="0" tIns="0" rIns="0" bIns="0" rtlCol="0" anchor="ctr"/>
          <a:lstStyle/>
          <a:p>
            <a:pPr indent="0" marL="0">
              <a:buNone/>
            </a:pPr>
            <a:r>
              <a:rPr lang="en-US" sz="1500" b="1" dirty="0">
                <a:solidFill>
                  <a:srgbClr val="2E6F40"/>
                </a:solidFill>
                <a:latin typeface="Calibri" pitchFamily="34" charset="0"/>
                <a:ea typeface="Calibri" pitchFamily="34" charset="-122"/>
                <a:cs typeface="Calibri" pitchFamily="34" charset="-120"/>
              </a:rPr>
              <a:t>Vấn đề</a:t>
            </a:r>
            <a:endParaRPr lang="en-US" sz="1500" dirty="0"/>
          </a:p>
        </p:txBody>
      </p:sp>
      <p:sp>
        <p:nvSpPr>
          <p:cNvPr id="6" name="Text 4"/>
          <p:cNvSpPr txBox="1"/>
          <p:nvPr/>
        </p:nvSpPr>
        <p:spPr>
          <a:xfrm>
            <a:off x="960120" y="2423160"/>
            <a:ext cx="4206240" cy="1737360"/>
          </a:xfrm>
          <a:prstGeom prst="rect">
            <a:avLst/>
          </a:prstGeom>
          <a:noFill/>
          <a:ln/>
        </p:spPr>
        <p:txBody>
          <a:bodyPr wrap="square" lIns="0" tIns="0" rIns="0" bIns="0" rtlCol="0" anchor="ctr"/>
          <a:lstStyle/>
          <a:p>
            <a:pPr indent="0" marL="0">
              <a:lnSpc>
                <a:spcPct val="125000"/>
              </a:lnSpc>
              <a:buNone/>
            </a:pPr>
            <a:r>
              <a:rPr lang="en-US" sz="1350" dirty="0">
                <a:solidFill>
                  <a:srgbClr val="1C2B20"/>
                </a:solidFill>
                <a:latin typeface="Calibri" pitchFamily="34" charset="0"/>
                <a:ea typeface="Calibri" pitchFamily="34" charset="-122"/>
                <a:cs typeface="Calibri" pitchFamily="34" charset="-120"/>
              </a:rPr>
              <a:t>Nông hộ ghi vật tư, công việc, tiền nong vào sổ giấy hoặc nhớ trong đầu. Cuối vụ, câu hỏi “vụ này lãi hay lỗ, năm sau nên trồng gì” thường không có câu trả lời — vì lịch sử vụ trước không được lưu ở đâu tra lại được.</a:t>
            </a:r>
            <a:endParaRPr lang="en-US" sz="1350" dirty="0"/>
          </a:p>
        </p:txBody>
      </p:sp>
      <p:sp>
        <p:nvSpPr>
          <p:cNvPr id="7" name="Shape 5"/>
          <p:cNvSpPr/>
          <p:nvPr/>
        </p:nvSpPr>
        <p:spPr>
          <a:xfrm>
            <a:off x="960120" y="4343400"/>
            <a:ext cx="4206240" cy="0"/>
          </a:xfrm>
          <a:prstGeom prst="line">
            <a:avLst/>
          </a:prstGeom>
          <a:noFill/>
          <a:ln w="12700">
            <a:solidFill>
              <a:srgbClr val="D5E4D9"/>
            </a:solidFill>
            <a:prstDash val="solid"/>
          </a:ln>
        </p:spPr>
      </p:sp>
      <p:sp>
        <p:nvSpPr>
          <p:cNvPr id="8" name="Text 6"/>
          <p:cNvSpPr txBox="1"/>
          <p:nvPr/>
        </p:nvSpPr>
        <p:spPr>
          <a:xfrm>
            <a:off x="960120" y="4526280"/>
            <a:ext cx="4206240" cy="1554480"/>
          </a:xfrm>
          <a:prstGeom prst="rect">
            <a:avLst/>
          </a:prstGeom>
          <a:noFill/>
          <a:ln/>
        </p:spPr>
        <p:txBody>
          <a:bodyPr wrap="square" lIns="0" tIns="0" rIns="0" bIns="0" rtlCol="0" anchor="ctr"/>
          <a:lstStyle/>
          <a:p>
            <a:pPr indent="0" marL="0">
              <a:lnSpc>
                <a:spcPct val="125000"/>
              </a:lnSpc>
              <a:buNone/>
            </a:pPr>
            <a:r>
              <a:rPr lang="en-US" sz="1200" i="1" dirty="0">
                <a:solidFill>
                  <a:srgbClr val="5B6B60"/>
                </a:solidFill>
                <a:latin typeface="Calibri" pitchFamily="34" charset="0"/>
                <a:ea typeface="Calibri" pitchFamily="34" charset="-122"/>
                <a:cs typeface="Calibri" pitchFamily="34" charset="-120"/>
              </a:rPr>
              <a:t>Yêu cầu gốc đề xuất 5 bảng dữ liệu mới và gọi REST trực tiếp — không khớp kiến trúc offline-first sẵn có. V2.1 mở rộng bảng đã có thay vì lập sổ thứ hai (xem ADR 0008).</a:t>
            </a:r>
            <a:endParaRPr lang="en-US" sz="1200" dirty="0"/>
          </a:p>
        </p:txBody>
      </p:sp>
      <p:sp>
        <p:nvSpPr>
          <p:cNvPr id="9" name="Shape 7"/>
          <p:cNvSpPr/>
          <p:nvPr/>
        </p:nvSpPr>
        <p:spPr>
          <a:xfrm>
            <a:off x="5943600" y="1737360"/>
            <a:ext cx="566928" cy="566928"/>
          </a:xfrm>
          <a:prstGeom prst="ellipse">
            <a:avLst/>
          </a:prstGeom>
          <a:solidFill>
            <a:srgbClr val="2E6F40"/>
          </a:solidFill>
          <a:ln/>
        </p:spPr>
      </p:sp>
      <p:pic>
        <p:nvPicPr>
          <p:cNvPr id="10" name="Image 0" descr="C:\Users\Maxsys\AppData\Local\Temp\claude\d--AgriXAI-Farmer\9d658242-07c0-4b4a-b8de-708653b0dceb\scratchpad\pptx\icons\chart.png">    </p:cNvPr>
          <p:cNvPicPr>
            <a:picLocks noChangeAspect="1"/>
          </p:cNvPicPr>
          <p:nvPr/>
        </p:nvPicPr>
        <p:blipFill>
          <a:blip r:embed="rId1"/>
          <a:stretch>
            <a:fillRect/>
          </a:stretch>
        </p:blipFill>
        <p:spPr>
          <a:xfrm>
            <a:off x="6017301" y="1811061"/>
            <a:ext cx="419527" cy="419527"/>
          </a:xfrm>
          <a:prstGeom prst="rect">
            <a:avLst/>
          </a:prstGeom>
        </p:spPr>
      </p:pic>
      <p:sp>
        <p:nvSpPr>
          <p:cNvPr id="11" name="Text 8"/>
          <p:cNvSpPr txBox="1"/>
          <p:nvPr/>
        </p:nvSpPr>
        <p:spPr>
          <a:xfrm>
            <a:off x="6720840" y="1709928"/>
            <a:ext cx="4754880" cy="320040"/>
          </a:xfrm>
          <a:prstGeom prst="rect">
            <a:avLst/>
          </a:prstGeom>
          <a:noFill/>
          <a:ln/>
        </p:spPr>
        <p:txBody>
          <a:bodyPr wrap="square" lIns="0" tIns="0" rIns="0" bIns="0" rtlCol="0" anchor="ctr"/>
          <a:lstStyle/>
          <a:p>
            <a:pPr indent="0" marL="0">
              <a:buNone/>
            </a:pPr>
            <a:r>
              <a:rPr lang="en-US" sz="1450" b="1" dirty="0">
                <a:solidFill>
                  <a:srgbClr val="1C2B20"/>
                </a:solidFill>
                <a:latin typeface="Calibri" pitchFamily="34" charset="0"/>
                <a:ea typeface="Calibri" pitchFamily="34" charset="-122"/>
                <a:cs typeface="Calibri" pitchFamily="34" charset="-120"/>
              </a:rPr>
              <a:t>Lịch sử trồng trọt</a:t>
            </a:r>
            <a:endParaRPr lang="en-US" sz="1450" dirty="0"/>
          </a:p>
        </p:txBody>
      </p:sp>
      <p:sp>
        <p:nvSpPr>
          <p:cNvPr id="12" name="Text 9"/>
          <p:cNvSpPr txBox="1"/>
          <p:nvPr/>
        </p:nvSpPr>
        <p:spPr>
          <a:xfrm>
            <a:off x="6720840" y="2029968"/>
            <a:ext cx="4754880" cy="457200"/>
          </a:xfrm>
          <a:prstGeom prst="rect">
            <a:avLst/>
          </a:prstGeom>
          <a:noFill/>
          <a:ln/>
        </p:spPr>
        <p:txBody>
          <a:bodyPr wrap="square" lIns="0" tIns="0" rIns="0" bIns="0" rtlCol="0" anchor="ctr"/>
          <a:lstStyle/>
          <a:p>
            <a:pPr indent="0" marL="0">
              <a:buNone/>
            </a:pPr>
            <a:r>
              <a:rPr lang="en-US" sz="1150" dirty="0">
                <a:solidFill>
                  <a:srgbClr val="5B6B60"/>
                </a:solidFill>
                <a:latin typeface="Calibri" pitchFamily="34" charset="0"/>
                <a:ea typeface="Calibri" pitchFamily="34" charset="-122"/>
                <a:cs typeface="Calibri" pitchFamily="34" charset="-120"/>
              </a:rPr>
              <a:t>Theo dõi từng vụ, so sánh năng suất thật giữa các cây</a:t>
            </a:r>
            <a:endParaRPr lang="en-US" sz="1150" dirty="0"/>
          </a:p>
        </p:txBody>
      </p:sp>
      <p:sp>
        <p:nvSpPr>
          <p:cNvPr id="13" name="Shape 10"/>
          <p:cNvSpPr/>
          <p:nvPr/>
        </p:nvSpPr>
        <p:spPr>
          <a:xfrm>
            <a:off x="5943600" y="2606040"/>
            <a:ext cx="566928" cy="566928"/>
          </a:xfrm>
          <a:prstGeom prst="ellipse">
            <a:avLst/>
          </a:prstGeom>
          <a:solidFill>
            <a:srgbClr val="2E6F40"/>
          </a:solidFill>
          <a:ln/>
        </p:spPr>
      </p:sp>
      <p:pic>
        <p:nvPicPr>
          <p:cNvPr id="14" name="Image 1" descr="C:\Users\Maxsys\AppData\Local\Temp\claude\d--AgriXAI-Farmer\9d658242-07c0-4b4a-b8de-708653b0dceb\scratchpad\pptx\icons\video.png">    </p:cNvPr>
          <p:cNvPicPr>
            <a:picLocks noChangeAspect="1"/>
          </p:cNvPicPr>
          <p:nvPr/>
        </p:nvPicPr>
        <p:blipFill>
          <a:blip r:embed="rId2"/>
          <a:stretch>
            <a:fillRect/>
          </a:stretch>
        </p:blipFill>
        <p:spPr>
          <a:xfrm>
            <a:off x="6017301" y="2679741"/>
            <a:ext cx="419527" cy="419527"/>
          </a:xfrm>
          <a:prstGeom prst="rect">
            <a:avLst/>
          </a:prstGeom>
        </p:spPr>
      </p:pic>
      <p:sp>
        <p:nvSpPr>
          <p:cNvPr id="15" name="Text 11"/>
          <p:cNvSpPr txBox="1"/>
          <p:nvPr/>
        </p:nvSpPr>
        <p:spPr>
          <a:xfrm>
            <a:off x="6720840" y="2578608"/>
            <a:ext cx="4754880" cy="320040"/>
          </a:xfrm>
          <a:prstGeom prst="rect">
            <a:avLst/>
          </a:prstGeom>
          <a:noFill/>
          <a:ln/>
        </p:spPr>
        <p:txBody>
          <a:bodyPr wrap="square" lIns="0" tIns="0" rIns="0" bIns="0" rtlCol="0" anchor="ctr"/>
          <a:lstStyle/>
          <a:p>
            <a:pPr indent="0" marL="0">
              <a:buNone/>
            </a:pPr>
            <a:r>
              <a:rPr lang="en-US" sz="1450" b="1" dirty="0">
                <a:solidFill>
                  <a:srgbClr val="1C2B20"/>
                </a:solidFill>
                <a:latin typeface="Calibri" pitchFamily="34" charset="0"/>
                <a:ea typeface="Calibri" pitchFamily="34" charset="-122"/>
                <a:cs typeface="Calibri" pitchFamily="34" charset="-120"/>
              </a:rPr>
              <a:t>Hướng dẫn chăm sóc có video</a:t>
            </a:r>
            <a:endParaRPr lang="en-US" sz="1450" dirty="0"/>
          </a:p>
        </p:txBody>
      </p:sp>
      <p:sp>
        <p:nvSpPr>
          <p:cNvPr id="16" name="Text 12"/>
          <p:cNvSpPr txBox="1"/>
          <p:nvPr/>
        </p:nvSpPr>
        <p:spPr>
          <a:xfrm>
            <a:off x="6720840" y="2898648"/>
            <a:ext cx="4754880" cy="457200"/>
          </a:xfrm>
          <a:prstGeom prst="rect">
            <a:avLst/>
          </a:prstGeom>
          <a:noFill/>
          <a:ln/>
        </p:spPr>
        <p:txBody>
          <a:bodyPr wrap="square" lIns="0" tIns="0" rIns="0" bIns="0" rtlCol="0" anchor="ctr"/>
          <a:lstStyle/>
          <a:p>
            <a:pPr indent="0" marL="0">
              <a:buNone/>
            </a:pPr>
            <a:r>
              <a:rPr lang="en-US" sz="1150" dirty="0">
                <a:solidFill>
                  <a:srgbClr val="5B6B60"/>
                </a:solidFill>
                <a:latin typeface="Calibri" pitchFamily="34" charset="0"/>
                <a:ea typeface="Calibri" pitchFamily="34" charset="-122"/>
                <a:cs typeface="Calibri" pitchFamily="34" charset="-120"/>
              </a:rPr>
              <a:t>YouTube phát ngay trong app, không cần rời ra ngoài</a:t>
            </a:r>
            <a:endParaRPr lang="en-US" sz="1150" dirty="0"/>
          </a:p>
        </p:txBody>
      </p:sp>
      <p:sp>
        <p:nvSpPr>
          <p:cNvPr id="17" name="Shape 13"/>
          <p:cNvSpPr/>
          <p:nvPr/>
        </p:nvSpPr>
        <p:spPr>
          <a:xfrm>
            <a:off x="5943600" y="3474720"/>
            <a:ext cx="566928" cy="566928"/>
          </a:xfrm>
          <a:prstGeom prst="ellipse">
            <a:avLst/>
          </a:prstGeom>
          <a:solidFill>
            <a:srgbClr val="2E6F40"/>
          </a:solidFill>
          <a:ln/>
        </p:spPr>
      </p:sp>
      <p:pic>
        <p:nvPicPr>
          <p:cNvPr id="18" name="Image 2" descr="C:\Users\Maxsys\AppData\Local\Temp\claude\d--AgriXAI-Farmer\9d658242-07c0-4b4a-b8de-708653b0dceb\scratchpad\pptx\icons\camera.png">    </p:cNvPr>
          <p:cNvPicPr>
            <a:picLocks noChangeAspect="1"/>
          </p:cNvPicPr>
          <p:nvPr/>
        </p:nvPicPr>
        <p:blipFill>
          <a:blip r:embed="rId3"/>
          <a:stretch>
            <a:fillRect/>
          </a:stretch>
        </p:blipFill>
        <p:spPr>
          <a:xfrm>
            <a:off x="6017301" y="3548421"/>
            <a:ext cx="419527" cy="419527"/>
          </a:xfrm>
          <a:prstGeom prst="rect">
            <a:avLst/>
          </a:prstGeom>
        </p:spPr>
      </p:pic>
      <p:sp>
        <p:nvSpPr>
          <p:cNvPr id="19" name="Text 14"/>
          <p:cNvSpPr txBox="1"/>
          <p:nvPr/>
        </p:nvSpPr>
        <p:spPr>
          <a:xfrm>
            <a:off x="6720840" y="3447288"/>
            <a:ext cx="4754880" cy="320040"/>
          </a:xfrm>
          <a:prstGeom prst="rect">
            <a:avLst/>
          </a:prstGeom>
          <a:noFill/>
          <a:ln/>
        </p:spPr>
        <p:txBody>
          <a:bodyPr wrap="square" lIns="0" tIns="0" rIns="0" bIns="0" rtlCol="0" anchor="ctr"/>
          <a:lstStyle/>
          <a:p>
            <a:pPr indent="0" marL="0">
              <a:buNone/>
            </a:pPr>
            <a:r>
              <a:rPr lang="en-US" sz="1450" b="1" dirty="0">
                <a:solidFill>
                  <a:srgbClr val="1C2B20"/>
                </a:solidFill>
                <a:latin typeface="Calibri" pitchFamily="34" charset="0"/>
                <a:ea typeface="Calibri" pitchFamily="34" charset="-122"/>
                <a:cs typeface="Calibri" pitchFamily="34" charset="-120"/>
              </a:rPr>
              <a:t>Ghi chú công việc kèm ảnh/video</a:t>
            </a:r>
            <a:endParaRPr lang="en-US" sz="1450" dirty="0"/>
          </a:p>
        </p:txBody>
      </p:sp>
      <p:sp>
        <p:nvSpPr>
          <p:cNvPr id="20" name="Text 15"/>
          <p:cNvSpPr txBox="1"/>
          <p:nvPr/>
        </p:nvSpPr>
        <p:spPr>
          <a:xfrm>
            <a:off x="6720840" y="3767328"/>
            <a:ext cx="4754880" cy="457200"/>
          </a:xfrm>
          <a:prstGeom prst="rect">
            <a:avLst/>
          </a:prstGeom>
          <a:noFill/>
          <a:ln/>
        </p:spPr>
        <p:txBody>
          <a:bodyPr wrap="square" lIns="0" tIns="0" rIns="0" bIns="0" rtlCol="0" anchor="ctr"/>
          <a:lstStyle/>
          <a:p>
            <a:pPr indent="0" marL="0">
              <a:buNone/>
            </a:pPr>
            <a:r>
              <a:rPr lang="en-US" sz="1150" dirty="0">
                <a:solidFill>
                  <a:srgbClr val="5B6B60"/>
                </a:solidFill>
                <a:latin typeface="Calibri" pitchFamily="34" charset="0"/>
                <a:ea typeface="Calibri" pitchFamily="34" charset="-122"/>
                <a:cs typeface="Calibri" pitchFamily="34" charset="-120"/>
              </a:rPr>
              <a:t>Lưu máy trước, tự tải lên khi có sóng</a:t>
            </a:r>
            <a:endParaRPr lang="en-US" sz="1150" dirty="0"/>
          </a:p>
        </p:txBody>
      </p:sp>
      <p:sp>
        <p:nvSpPr>
          <p:cNvPr id="21" name="Shape 16"/>
          <p:cNvSpPr/>
          <p:nvPr/>
        </p:nvSpPr>
        <p:spPr>
          <a:xfrm>
            <a:off x="5943600" y="4343400"/>
            <a:ext cx="566928" cy="566928"/>
          </a:xfrm>
          <a:prstGeom prst="ellipse">
            <a:avLst/>
          </a:prstGeom>
          <a:solidFill>
            <a:srgbClr val="2E6F40"/>
          </a:solidFill>
          <a:ln/>
        </p:spPr>
      </p:sp>
      <p:pic>
        <p:nvPicPr>
          <p:cNvPr id="22" name="Image 3" descr="C:\Users\Maxsys\AppData\Local\Temp\claude\d--AgriXAI-Farmer\9d658242-07c0-4b4a-b8de-708653b0dceb\scratchpad\pptx\icons\bulb.png">    </p:cNvPr>
          <p:cNvPicPr>
            <a:picLocks noChangeAspect="1"/>
          </p:cNvPicPr>
          <p:nvPr/>
        </p:nvPicPr>
        <p:blipFill>
          <a:blip r:embed="rId4"/>
          <a:stretch>
            <a:fillRect/>
          </a:stretch>
        </p:blipFill>
        <p:spPr>
          <a:xfrm>
            <a:off x="6017301" y="4417101"/>
            <a:ext cx="419527" cy="419527"/>
          </a:xfrm>
          <a:prstGeom prst="rect">
            <a:avLst/>
          </a:prstGeom>
        </p:spPr>
      </p:pic>
      <p:sp>
        <p:nvSpPr>
          <p:cNvPr id="23" name="Text 17"/>
          <p:cNvSpPr txBox="1"/>
          <p:nvPr/>
        </p:nvSpPr>
        <p:spPr>
          <a:xfrm>
            <a:off x="6720840" y="4315968"/>
            <a:ext cx="4754880" cy="320040"/>
          </a:xfrm>
          <a:prstGeom prst="rect">
            <a:avLst/>
          </a:prstGeom>
          <a:noFill/>
          <a:ln/>
        </p:spPr>
        <p:txBody>
          <a:bodyPr wrap="square" lIns="0" tIns="0" rIns="0" bIns="0" rtlCol="0" anchor="ctr"/>
          <a:lstStyle/>
          <a:p>
            <a:pPr indent="0" marL="0">
              <a:buNone/>
            </a:pPr>
            <a:r>
              <a:rPr lang="en-US" sz="1450" b="1" dirty="0">
                <a:solidFill>
                  <a:srgbClr val="1C2B20"/>
                </a:solidFill>
                <a:latin typeface="Calibri" pitchFamily="34" charset="0"/>
                <a:ea typeface="Calibri" pitchFamily="34" charset="-122"/>
                <a:cs typeface="Calibri" pitchFamily="34" charset="-120"/>
              </a:rPr>
              <a:t>Gợi ý cây theo mùa</a:t>
            </a:r>
            <a:endParaRPr lang="en-US" sz="1450" dirty="0"/>
          </a:p>
        </p:txBody>
      </p:sp>
      <p:sp>
        <p:nvSpPr>
          <p:cNvPr id="24" name="Text 18"/>
          <p:cNvSpPr txBox="1"/>
          <p:nvPr/>
        </p:nvSpPr>
        <p:spPr>
          <a:xfrm>
            <a:off x="6720840" y="4636008"/>
            <a:ext cx="4754880" cy="457200"/>
          </a:xfrm>
          <a:prstGeom prst="rect">
            <a:avLst/>
          </a:prstGeom>
          <a:noFill/>
          <a:ln/>
        </p:spPr>
        <p:txBody>
          <a:bodyPr wrap="square" lIns="0" tIns="0" rIns="0" bIns="0" rtlCol="0" anchor="ctr"/>
          <a:lstStyle/>
          <a:p>
            <a:pPr indent="0" marL="0">
              <a:buNone/>
            </a:pPr>
            <a:r>
              <a:rPr lang="en-US" sz="1150" dirty="0">
                <a:solidFill>
                  <a:srgbClr val="5B6B60"/>
                </a:solidFill>
                <a:latin typeface="Calibri" pitchFamily="34" charset="0"/>
                <a:ea typeface="Calibri" pitchFamily="34" charset="-122"/>
                <a:cs typeface="Calibri" pitchFamily="34" charset="-120"/>
              </a:rPr>
              <a:t>Xếp hạng theo năng suất thật của chính lô, không bịa</a:t>
            </a:r>
            <a:endParaRPr lang="en-US" sz="1150" dirty="0"/>
          </a:p>
        </p:txBody>
      </p:sp>
      <p:sp>
        <p:nvSpPr>
          <p:cNvPr id="25" name="Shape 19"/>
          <p:cNvSpPr/>
          <p:nvPr/>
        </p:nvSpPr>
        <p:spPr>
          <a:xfrm>
            <a:off x="5943600" y="5212080"/>
            <a:ext cx="566928" cy="566928"/>
          </a:xfrm>
          <a:prstGeom prst="ellipse">
            <a:avLst/>
          </a:prstGeom>
          <a:solidFill>
            <a:srgbClr val="2E6F40"/>
          </a:solidFill>
          <a:ln/>
        </p:spPr>
      </p:sp>
      <p:pic>
        <p:nvPicPr>
          <p:cNvPr id="26" name="Image 4" descr="C:\Users\Maxsys\AppData\Local\Temp\claude\d--AgriXAI-Farmer\9d658242-07c0-4b4a-b8de-708653b0dceb\scratchpad\pptx\icons\money.png">    </p:cNvPr>
          <p:cNvPicPr>
            <a:picLocks noChangeAspect="1"/>
          </p:cNvPicPr>
          <p:nvPr/>
        </p:nvPicPr>
        <p:blipFill>
          <a:blip r:embed="rId5"/>
          <a:stretch>
            <a:fillRect/>
          </a:stretch>
        </p:blipFill>
        <p:spPr>
          <a:xfrm>
            <a:off x="6017301" y="5285781"/>
            <a:ext cx="419527" cy="419527"/>
          </a:xfrm>
          <a:prstGeom prst="rect">
            <a:avLst/>
          </a:prstGeom>
        </p:spPr>
      </p:pic>
      <p:sp>
        <p:nvSpPr>
          <p:cNvPr id="27" name="Text 20"/>
          <p:cNvSpPr txBox="1"/>
          <p:nvPr/>
        </p:nvSpPr>
        <p:spPr>
          <a:xfrm>
            <a:off x="6720840" y="5184648"/>
            <a:ext cx="4754880" cy="320040"/>
          </a:xfrm>
          <a:prstGeom prst="rect">
            <a:avLst/>
          </a:prstGeom>
          <a:noFill/>
          <a:ln/>
        </p:spPr>
        <p:txBody>
          <a:bodyPr wrap="square" lIns="0" tIns="0" rIns="0" bIns="0" rtlCol="0" anchor="ctr"/>
          <a:lstStyle/>
          <a:p>
            <a:pPr indent="0" marL="0">
              <a:buNone/>
            </a:pPr>
            <a:r>
              <a:rPr lang="en-US" sz="1450" b="1" dirty="0">
                <a:solidFill>
                  <a:srgbClr val="1C2B20"/>
                </a:solidFill>
                <a:latin typeface="Calibri" pitchFamily="34" charset="0"/>
                <a:ea typeface="Calibri" pitchFamily="34" charset="-122"/>
                <a:cs typeface="Calibri" pitchFamily="34" charset="-120"/>
              </a:rPr>
              <a:t>Tiền công nhân công</a:t>
            </a:r>
            <a:endParaRPr lang="en-US" sz="1450" dirty="0"/>
          </a:p>
        </p:txBody>
      </p:sp>
      <p:sp>
        <p:nvSpPr>
          <p:cNvPr id="28" name="Text 21"/>
          <p:cNvSpPr txBox="1"/>
          <p:nvPr/>
        </p:nvSpPr>
        <p:spPr>
          <a:xfrm>
            <a:off x="6720840" y="5504688"/>
            <a:ext cx="4754880" cy="457200"/>
          </a:xfrm>
          <a:prstGeom prst="rect">
            <a:avLst/>
          </a:prstGeom>
          <a:noFill/>
          <a:ln/>
        </p:spPr>
        <p:txBody>
          <a:bodyPr wrap="square" lIns="0" tIns="0" rIns="0" bIns="0" rtlCol="0" anchor="ctr"/>
          <a:lstStyle/>
          <a:p>
            <a:pPr indent="0" marL="0">
              <a:buNone/>
            </a:pPr>
            <a:r>
              <a:rPr lang="en-US" sz="1150" dirty="0">
                <a:solidFill>
                  <a:srgbClr val="5B6B60"/>
                </a:solidFill>
                <a:latin typeface="Calibri" pitchFamily="34" charset="0"/>
                <a:ea typeface="Calibri" pitchFamily="34" charset="-122"/>
                <a:cs typeface="Calibri" pitchFamily="34" charset="-120"/>
              </a:rPr>
              <a:t>Giờ / ngày / khoán — tự vào báo cáo Thu – Chi</a:t>
            </a:r>
            <a:endParaRPr lang="en-US" sz="1150" dirty="0"/>
          </a:p>
        </p:txBody>
      </p:sp>
      <p:sp>
        <p:nvSpPr>
          <p:cNvPr id="29" name="Text 22"/>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TÍNH NĂNG 1</a:t>
            </a:r>
            <a:endParaRPr lang="en-US" sz="1200" dirty="0"/>
          </a:p>
        </p:txBody>
      </p:sp>
      <p:sp>
        <p:nvSpPr>
          <p:cNvPr id="3" name="Text 1"/>
          <p:cNvSpPr txBox="1"/>
          <p:nvPr/>
        </p:nvSpPr>
        <p:spPr>
          <a:xfrm>
            <a:off x="640080" y="777240"/>
            <a:ext cx="7315200" cy="502920"/>
          </a:xfrm>
          <a:prstGeom prst="rect">
            <a:avLst/>
          </a:prstGeom>
          <a:noFill/>
          <a:ln/>
        </p:spPr>
        <p:txBody>
          <a:bodyPr wrap="square" lIns="0" tIns="0" rIns="0" bIns="0" rtlCol="0" anchor="ctr"/>
          <a:lstStyle/>
          <a:p>
            <a:pPr indent="0" marL="0">
              <a:buNone/>
            </a:pPr>
            <a:r>
              <a:rPr lang="en-US" sz="2600" b="1" dirty="0">
                <a:solidFill>
                  <a:srgbClr val="1C2B20"/>
                </a:solidFill>
                <a:latin typeface="Cambria" pitchFamily="34" charset="0"/>
                <a:ea typeface="Cambria" pitchFamily="34" charset="-122"/>
                <a:cs typeface="Cambria" pitchFamily="34" charset="-120"/>
              </a:rPr>
              <a:t>Lịch sử trồng trọt</a:t>
            </a:r>
            <a:endParaRPr lang="en-US" sz="2600" dirty="0"/>
          </a:p>
        </p:txBody>
      </p:sp>
      <p:sp>
        <p:nvSpPr>
          <p:cNvPr id="4" name="Text 2"/>
          <p:cNvSpPr txBox="1"/>
          <p:nvPr/>
        </p:nvSpPr>
        <p:spPr>
          <a:xfrm>
            <a:off x="640080" y="1261872"/>
            <a:ext cx="7315200" cy="365760"/>
          </a:xfrm>
          <a:prstGeom prst="rect">
            <a:avLst/>
          </a:prstGeom>
          <a:noFill/>
          <a:ln/>
        </p:spPr>
        <p:txBody>
          <a:bodyPr wrap="square" lIns="0" tIns="0" rIns="0" bIns="0" rtlCol="0" anchor="ctr"/>
          <a:lstStyle/>
          <a:p>
            <a:pPr indent="0" marL="0">
              <a:buNone/>
            </a:pPr>
            <a:r>
              <a:rPr lang="en-US" sz="1300" dirty="0">
                <a:solidFill>
                  <a:srgbClr val="5B6B60"/>
                </a:solidFill>
                <a:latin typeface="Calibri" pitchFamily="34" charset="0"/>
                <a:ea typeface="Calibri" pitchFamily="34" charset="-122"/>
                <a:cs typeface="Calibri" pitchFamily="34" charset="-120"/>
              </a:rPr>
              <a:t>Tách khỏi lịch sử công việc — mỗi vụ ghi cây trồng, mùa vụ, diện tích và sản lượng thật.</a:t>
            </a:r>
            <a:endParaRPr lang="en-US" sz="1300" dirty="0"/>
          </a:p>
        </p:txBody>
      </p:sp>
      <p:graphicFrame>
        <p:nvGraphicFramePr>
          <p:cNvPr id="5" name="Chart 0" descr=""/>
          <p:cNvGraphicFramePr/>
          <p:nvPr/>
        </p:nvGraphicFramePr>
        <p:xfrm>
          <a:off x="640080" y="178308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01000" y="1645920"/>
            <a:ext cx="2148840" cy="4439920"/>
          </a:xfrm>
          <a:prstGeom prst="roundRect">
            <a:avLst>
              <a:gd name="adj" fmla="val 4255"/>
            </a:avLst>
          </a:prstGeom>
          <a:solidFill>
            <a:srgbClr val="F4F5F3"/>
          </a:solidFill>
          <a:ln w="12700">
            <a:solidFill>
              <a:srgbClr val="D5E4D9"/>
            </a:solidFill>
            <a:prstDash val="solid"/>
          </a:ln>
        </p:spPr>
      </p:sp>
      <p:pic>
        <p:nvPicPr>
          <p:cNvPr id="7" name="Image 0" descr="D:\AgriXAI Farmer\docs\screenshots\85-v21-cultivation-history-chart.png">    </p:cNvPr>
          <p:cNvPicPr>
            <a:picLocks noChangeAspect="1"/>
          </p:cNvPicPr>
          <p:nvPr/>
        </p:nvPicPr>
        <p:blipFill>
          <a:blip r:embed="rId2"/>
          <a:stretch>
            <a:fillRect/>
          </a:stretch>
        </p:blipFill>
        <p:spPr>
          <a:xfrm>
            <a:off x="8138160" y="1783080"/>
            <a:ext cx="1874520" cy="4165600"/>
          </a:xfrm>
          <a:prstGeom prst="rect">
            <a:avLst/>
          </a:prstGeom>
        </p:spPr>
      </p:pic>
      <p:sp>
        <p:nvSpPr>
          <p:cNvPr id="8" name="Text 4"/>
          <p:cNvSpPr txBox="1"/>
          <p:nvPr/>
        </p:nvSpPr>
        <p:spPr>
          <a:xfrm>
            <a:off x="8001000" y="6177280"/>
            <a:ext cx="2148840" cy="548640"/>
          </a:xfrm>
          <a:prstGeom prst="rect">
            <a:avLst/>
          </a:prstGeom>
          <a:noFill/>
          <a:ln/>
        </p:spPr>
        <p:txBody>
          <a:bodyPr wrap="square" lIns="0" tIns="0" rIns="0" bIns="0" rtlCol="0" anchor="ctr"/>
          <a:lstStyle/>
          <a:p>
            <a:pPr algn="ctr" indent="0" marL="0">
              <a:buNone/>
            </a:pPr>
            <a:r>
              <a:rPr lang="en-US" sz="1050" i="1" dirty="0">
                <a:solidFill>
                  <a:srgbClr val="5B6B60"/>
                </a:solidFill>
                <a:latin typeface="Calibri" pitchFamily="34" charset="0"/>
                <a:ea typeface="Calibri" pitchFamily="34" charset="-122"/>
                <a:cs typeface="Calibri" pitchFamily="34" charset="-120"/>
              </a:rPr>
              <a:t>Ảnh chụp thật — emulator Pixel 6a</a:t>
            </a:r>
            <a:endParaRPr lang="en-US" sz="1050" dirty="0"/>
          </a:p>
        </p:txBody>
      </p:sp>
      <p:sp>
        <p:nvSpPr>
          <p:cNvPr id="9" name="Text 5"/>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351215" y="0"/>
            <a:ext cx="4663440" cy="6858000"/>
          </a:xfrm>
          <a:prstGeom prst="rect">
            <a:avLst/>
          </a:prstGeom>
          <a:solidFill>
            <a:srgbClr val="EAF3EC"/>
          </a:solidFill>
          <a:ln/>
        </p:spPr>
      </p:sp>
      <p:pic>
        <p:nvPicPr>
          <p:cNvPr id="3" name="Image 0" descr="D:\AgriXAI Farmer\docs\screenshots\89-v21-youtube-embedded-playing.png">    </p:cNvPr>
          <p:cNvPicPr>
            <a:picLocks noChangeAspect="1"/>
          </p:cNvPicPr>
          <p:nvPr/>
        </p:nvPicPr>
        <p:blipFill>
          <a:blip r:embed="rId1"/>
          <a:stretch>
            <a:fillRect/>
          </a:stretch>
        </p:blipFill>
        <p:spPr>
          <a:xfrm>
            <a:off x="8762695" y="76200"/>
            <a:ext cx="3017520" cy="6705600"/>
          </a:xfrm>
          <a:prstGeom prst="rect">
            <a:avLst/>
          </a:prstGeom>
        </p:spPr>
      </p:pic>
      <p:sp>
        <p:nvSpPr>
          <p:cNvPr id="4" name="Text 1"/>
          <p:cNvSpPr txBox="1"/>
          <p:nvPr/>
        </p:nvSpPr>
        <p:spPr>
          <a:xfrm>
            <a:off x="640080" y="54864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TÍNH NĂNG 2</a:t>
            </a:r>
            <a:endParaRPr lang="en-US" sz="1200" dirty="0"/>
          </a:p>
        </p:txBody>
      </p:sp>
      <p:sp>
        <p:nvSpPr>
          <p:cNvPr id="5" name="Text 2"/>
          <p:cNvSpPr txBox="1"/>
          <p:nvPr/>
        </p:nvSpPr>
        <p:spPr>
          <a:xfrm>
            <a:off x="640080" y="914400"/>
            <a:ext cx="6766560" cy="1371600"/>
          </a:xfrm>
          <a:prstGeom prst="rect">
            <a:avLst/>
          </a:prstGeom>
          <a:noFill/>
          <a:ln/>
        </p:spPr>
        <p:txBody>
          <a:bodyPr wrap="square" lIns="0" tIns="0" rIns="0" bIns="0" rtlCol="0" anchor="ctr"/>
          <a:lstStyle/>
          <a:p>
            <a:pPr indent="0" marL="0">
              <a:lnSpc>
                <a:spcPct val="105000"/>
              </a:lnSpc>
              <a:buNone/>
            </a:pPr>
            <a:r>
              <a:rPr lang="en-US" sz="2700" b="1" dirty="0">
                <a:solidFill>
                  <a:srgbClr val="1C2B20"/>
                </a:solidFill>
                <a:latin typeface="Cambria" pitchFamily="34" charset="0"/>
                <a:ea typeface="Cambria" pitchFamily="34" charset="-122"/>
                <a:cs typeface="Cambria" pitchFamily="34" charset="-120"/>
              </a:rPr>
              <a:t>Hướng dẫn chăm sóc</a:t>
            </a:r>
            <a:endParaRPr lang="en-US" sz="2700" dirty="0"/>
          </a:p>
          <a:p>
            <a:pPr indent="0" marL="0">
              <a:lnSpc>
                <a:spcPct val="105000"/>
              </a:lnSpc>
              <a:buNone/>
            </a:pPr>
            <a:r>
              <a:rPr lang="en-US" sz="2700" b="1" dirty="0">
                <a:solidFill>
                  <a:srgbClr val="1C2B20"/>
                </a:solidFill>
                <a:latin typeface="Cambria" pitchFamily="34" charset="0"/>
                <a:ea typeface="Cambria" pitchFamily="34" charset="-122"/>
                <a:cs typeface="Cambria" pitchFamily="34" charset="-120"/>
              </a:rPr>
              <a:t>có video</a:t>
            </a:r>
            <a:endParaRPr lang="en-US" sz="2700" dirty="0"/>
          </a:p>
        </p:txBody>
      </p:sp>
      <p:sp>
        <p:nvSpPr>
          <p:cNvPr id="6" name="Shape 3"/>
          <p:cNvSpPr/>
          <p:nvPr/>
        </p:nvSpPr>
        <p:spPr>
          <a:xfrm>
            <a:off x="685800" y="2596896"/>
            <a:ext cx="82296" cy="82296"/>
          </a:xfrm>
          <a:prstGeom prst="ellipse">
            <a:avLst/>
          </a:prstGeom>
          <a:solidFill>
            <a:srgbClr val="D9A441"/>
          </a:solidFill>
          <a:ln/>
        </p:spPr>
      </p:sp>
      <p:sp>
        <p:nvSpPr>
          <p:cNvPr id="7" name="Text 4"/>
          <p:cNvSpPr txBox="1"/>
          <p:nvPr/>
        </p:nvSpPr>
        <p:spPr>
          <a:xfrm>
            <a:off x="914400" y="2441448"/>
            <a:ext cx="6309360" cy="822960"/>
          </a:xfrm>
          <a:prstGeom prst="rect">
            <a:avLst/>
          </a:prstGeom>
          <a:noFill/>
          <a:ln/>
        </p:spPr>
        <p:txBody>
          <a:bodyPr wrap="square" lIns="0" tIns="0" rIns="0" bIns="0" rtlCol="0" anchor="ctr"/>
          <a:lstStyle/>
          <a:p>
            <a:pPr indent="0" marL="0">
              <a:lnSpc>
                <a:spcPct val="120000"/>
              </a:lnSpc>
              <a:buNone/>
            </a:pPr>
            <a:r>
              <a:rPr lang="en-US" sz="1300" dirty="0">
                <a:solidFill>
                  <a:srgbClr val="1C2B20"/>
                </a:solidFill>
                <a:latin typeface="Calibri" pitchFamily="34" charset="0"/>
                <a:ea typeface="Calibri" pitchFamily="34" charset="-122"/>
                <a:cs typeface="Calibri" pitchFamily="34" charset="-120"/>
              </a:rPr>
              <a:t>Video YouTube nhúng, phát ngay trong app (WebView, domain youtube-nocookie.com — tránh cookie theo dõi)</a:t>
            </a:r>
            <a:endParaRPr lang="en-US" sz="1300" dirty="0"/>
          </a:p>
        </p:txBody>
      </p:sp>
      <p:sp>
        <p:nvSpPr>
          <p:cNvPr id="8" name="Shape 5"/>
          <p:cNvSpPr/>
          <p:nvPr/>
        </p:nvSpPr>
        <p:spPr>
          <a:xfrm>
            <a:off x="685800" y="3557016"/>
            <a:ext cx="82296" cy="82296"/>
          </a:xfrm>
          <a:prstGeom prst="ellipse">
            <a:avLst/>
          </a:prstGeom>
          <a:solidFill>
            <a:srgbClr val="D9A441"/>
          </a:solidFill>
          <a:ln/>
        </p:spPr>
      </p:sp>
      <p:sp>
        <p:nvSpPr>
          <p:cNvPr id="9" name="Text 6"/>
          <p:cNvSpPr txBox="1"/>
          <p:nvPr/>
        </p:nvSpPr>
        <p:spPr>
          <a:xfrm>
            <a:off x="914400" y="3401568"/>
            <a:ext cx="6309360" cy="822960"/>
          </a:xfrm>
          <a:prstGeom prst="rect">
            <a:avLst/>
          </a:prstGeom>
          <a:noFill/>
          <a:ln/>
        </p:spPr>
        <p:txBody>
          <a:bodyPr wrap="square" lIns="0" tIns="0" rIns="0" bIns="0" rtlCol="0" anchor="ctr"/>
          <a:lstStyle/>
          <a:p>
            <a:pPr indent="0" marL="0">
              <a:lnSpc>
                <a:spcPct val="120000"/>
              </a:lnSpc>
              <a:buNone/>
            </a:pPr>
            <a:r>
              <a:rPr lang="en-US" sz="1300" dirty="0">
                <a:solidFill>
                  <a:srgbClr val="1C2B20"/>
                </a:solidFill>
                <a:latin typeface="Calibri" pitchFamily="34" charset="0"/>
                <a:ea typeface="Calibri" pitchFamily="34" charset="-122"/>
                <a:cs typeface="Calibri" pitchFamily="34" charset="-120"/>
              </a:rPr>
              <a:t>Ảnh từng bước kèm nguồn; chỗ chưa có nguồn chính thức ghi “Chưa có dữ liệu”, không bịa liều lượng</a:t>
            </a:r>
            <a:endParaRPr lang="en-US" sz="1300" dirty="0"/>
          </a:p>
        </p:txBody>
      </p:sp>
      <p:sp>
        <p:nvSpPr>
          <p:cNvPr id="10" name="Shape 7"/>
          <p:cNvSpPr/>
          <p:nvPr/>
        </p:nvSpPr>
        <p:spPr>
          <a:xfrm>
            <a:off x="685800" y="4517136"/>
            <a:ext cx="82296" cy="82296"/>
          </a:xfrm>
          <a:prstGeom prst="ellipse">
            <a:avLst/>
          </a:prstGeom>
          <a:solidFill>
            <a:srgbClr val="D9A441"/>
          </a:solidFill>
          <a:ln/>
        </p:spPr>
      </p:sp>
      <p:sp>
        <p:nvSpPr>
          <p:cNvPr id="11" name="Text 8"/>
          <p:cNvSpPr txBox="1"/>
          <p:nvPr/>
        </p:nvSpPr>
        <p:spPr>
          <a:xfrm>
            <a:off x="914400" y="4361688"/>
            <a:ext cx="6309360" cy="822960"/>
          </a:xfrm>
          <a:prstGeom prst="rect">
            <a:avLst/>
          </a:prstGeom>
          <a:noFill/>
          <a:ln/>
        </p:spPr>
        <p:txBody>
          <a:bodyPr wrap="square" lIns="0" tIns="0" rIns="0" bIns="0" rtlCol="0" anchor="ctr"/>
          <a:lstStyle/>
          <a:p>
            <a:pPr indent="0" marL="0">
              <a:lnSpc>
                <a:spcPct val="120000"/>
              </a:lnSpc>
              <a:buNone/>
            </a:pPr>
            <a:r>
              <a:rPr lang="en-US" sz="1300" dirty="0">
                <a:solidFill>
                  <a:srgbClr val="1C2B20"/>
                </a:solidFill>
                <a:latin typeface="Calibri" pitchFamily="34" charset="0"/>
                <a:ea typeface="Calibri" pitchFamily="34" charset="-122"/>
                <a:cs typeface="Calibri" pitchFamily="34" charset="-120"/>
              </a:rPr>
              <a:t>Quản trị viên soạn nội dung trên web-admin (/care-guides) — nông hộ chỉ đọc</a:t>
            </a:r>
            <a:endParaRPr lang="en-US" sz="1300" dirty="0"/>
          </a:p>
        </p:txBody>
      </p:sp>
      <p:sp>
        <p:nvSpPr>
          <p:cNvPr id="12" name="Shape 9"/>
          <p:cNvSpPr/>
          <p:nvPr/>
        </p:nvSpPr>
        <p:spPr>
          <a:xfrm>
            <a:off x="685800" y="5477256"/>
            <a:ext cx="82296" cy="82296"/>
          </a:xfrm>
          <a:prstGeom prst="ellipse">
            <a:avLst/>
          </a:prstGeom>
          <a:solidFill>
            <a:srgbClr val="D9A441"/>
          </a:solidFill>
          <a:ln/>
        </p:spPr>
      </p:sp>
      <p:sp>
        <p:nvSpPr>
          <p:cNvPr id="13" name="Text 10"/>
          <p:cNvSpPr txBox="1"/>
          <p:nvPr/>
        </p:nvSpPr>
        <p:spPr>
          <a:xfrm>
            <a:off x="914400" y="5321808"/>
            <a:ext cx="6309360" cy="822960"/>
          </a:xfrm>
          <a:prstGeom prst="rect">
            <a:avLst/>
          </a:prstGeom>
          <a:noFill/>
          <a:ln/>
        </p:spPr>
        <p:txBody>
          <a:bodyPr wrap="square" lIns="0" tIns="0" rIns="0" bIns="0" rtlCol="0" anchor="ctr"/>
          <a:lstStyle/>
          <a:p>
            <a:pPr indent="0" marL="0">
              <a:lnSpc>
                <a:spcPct val="120000"/>
              </a:lnSpc>
              <a:buNone/>
            </a:pPr>
            <a:r>
              <a:rPr lang="en-US" sz="1300" dirty="0">
                <a:solidFill>
                  <a:srgbClr val="1C2B20"/>
                </a:solidFill>
                <a:latin typeface="Calibri" pitchFamily="34" charset="0"/>
                <a:ea typeface="Calibri" pitchFamily="34" charset="-122"/>
                <a:cs typeface="Calibri" pitchFamily="34" charset="-120"/>
              </a:rPr>
              <a:t>Không có mạng: khung video báo “cần có mạng”, nhưng chữ và ảnh các bước vẫn đọc được vì đã đồng bộ về máy</a:t>
            </a:r>
            <a:endParaRPr lang="en-US" sz="1300" dirty="0"/>
          </a:p>
        </p:txBody>
      </p:sp>
      <p:sp>
        <p:nvSpPr>
          <p:cNvPr id="14" name="Text 11"/>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TÍNH NĂNG 3</a:t>
            </a:r>
            <a:endParaRPr lang="en-US" sz="1200" dirty="0"/>
          </a:p>
        </p:txBody>
      </p:sp>
      <p:sp>
        <p:nvSpPr>
          <p:cNvPr id="3" name="Text 1"/>
          <p:cNvSpPr txBox="1"/>
          <p:nvPr/>
        </p:nvSpPr>
        <p:spPr>
          <a:xfrm>
            <a:off x="640080" y="777240"/>
            <a:ext cx="10515600" cy="502920"/>
          </a:xfrm>
          <a:prstGeom prst="rect">
            <a:avLst/>
          </a:prstGeom>
          <a:noFill/>
          <a:ln/>
        </p:spPr>
        <p:txBody>
          <a:bodyPr wrap="square" lIns="0" tIns="0" rIns="0" bIns="0" rtlCol="0" anchor="ctr"/>
          <a:lstStyle/>
          <a:p>
            <a:pPr indent="0" marL="0">
              <a:buNone/>
            </a:pPr>
            <a:r>
              <a:rPr lang="en-US" sz="2600" b="1" dirty="0">
                <a:solidFill>
                  <a:srgbClr val="1C2B20"/>
                </a:solidFill>
                <a:latin typeface="Cambria" pitchFamily="34" charset="0"/>
                <a:ea typeface="Cambria" pitchFamily="34" charset="-122"/>
                <a:cs typeface="Cambria" pitchFamily="34" charset="-120"/>
              </a:rPr>
              <a:t>Ghi chú công việc kèm ảnh/video</a:t>
            </a:r>
            <a:endParaRPr lang="en-US" sz="2600" dirty="0"/>
          </a:p>
        </p:txBody>
      </p:sp>
      <p:sp>
        <p:nvSpPr>
          <p:cNvPr id="4" name="Text 2"/>
          <p:cNvSpPr txBox="1"/>
          <p:nvPr/>
        </p:nvSpPr>
        <p:spPr>
          <a:xfrm>
            <a:off x="640080" y="1261872"/>
            <a:ext cx="10515600" cy="548640"/>
          </a:xfrm>
          <a:prstGeom prst="rect">
            <a:avLst/>
          </a:prstGeom>
          <a:noFill/>
          <a:ln/>
        </p:spPr>
        <p:txBody>
          <a:bodyPr wrap="square" lIns="0" tIns="0" rIns="0" bIns="0" rtlCol="0" anchor="ctr"/>
          <a:lstStyle/>
          <a:p>
            <a:pPr indent="0" marL="0">
              <a:lnSpc>
                <a:spcPct val="120000"/>
              </a:lnSpc>
              <a:buNone/>
            </a:pPr>
            <a:r>
              <a:rPr lang="en-US" sz="1300" dirty="0">
                <a:solidFill>
                  <a:srgbClr val="5B6B60"/>
                </a:solidFill>
                <a:latin typeface="Calibri" pitchFamily="34" charset="0"/>
                <a:ea typeface="Calibri" pitchFamily="34" charset="-122"/>
                <a:cs typeface="Calibri" pitchFamily="34" charset="-120"/>
              </a:rPr>
              <a:t>Ảnh/video lưu vào máy trước — không cần mạng ngay lúc chụp; tự tải lên qua POST /media khi có sóng, tách khỏi dòng đồng bộ /sync.</a:t>
            </a:r>
            <a:endParaRPr lang="en-US" sz="1300" dirty="0"/>
          </a:p>
        </p:txBody>
      </p:sp>
      <p:sp>
        <p:nvSpPr>
          <p:cNvPr id="5" name="Shape 3"/>
          <p:cNvSpPr/>
          <p:nvPr/>
        </p:nvSpPr>
        <p:spPr>
          <a:xfrm>
            <a:off x="3444088" y="2011680"/>
            <a:ext cx="2331720" cy="4846320"/>
          </a:xfrm>
          <a:prstGeom prst="roundRect">
            <a:avLst>
              <a:gd name="adj" fmla="val 3922"/>
            </a:avLst>
          </a:prstGeom>
          <a:solidFill>
            <a:srgbClr val="F4F5F3"/>
          </a:solidFill>
          <a:ln w="12700">
            <a:solidFill>
              <a:srgbClr val="D5E4D9"/>
            </a:solidFill>
            <a:prstDash val="solid"/>
          </a:ln>
        </p:spPr>
      </p:sp>
      <p:pic>
        <p:nvPicPr>
          <p:cNvPr id="6" name="Image 0" descr="D:\AgriXAI Farmer\docs\screenshots\90-v21-task-history-done.png">    </p:cNvPr>
          <p:cNvPicPr>
            <a:picLocks noChangeAspect="1"/>
          </p:cNvPicPr>
          <p:nvPr/>
        </p:nvPicPr>
        <p:blipFill>
          <a:blip r:embed="rId1"/>
          <a:stretch>
            <a:fillRect/>
          </a:stretch>
        </p:blipFill>
        <p:spPr>
          <a:xfrm>
            <a:off x="3581248" y="2148840"/>
            <a:ext cx="2057400" cy="4572000"/>
          </a:xfrm>
          <a:prstGeom prst="rect">
            <a:avLst/>
          </a:prstGeom>
        </p:spPr>
      </p:pic>
      <p:sp>
        <p:nvSpPr>
          <p:cNvPr id="7" name="Text 4"/>
          <p:cNvSpPr txBox="1"/>
          <p:nvPr/>
        </p:nvSpPr>
        <p:spPr>
          <a:xfrm>
            <a:off x="3444088" y="6949440"/>
            <a:ext cx="23317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B6B60"/>
                </a:solidFill>
                <a:latin typeface="Calibri" pitchFamily="34" charset="0"/>
                <a:ea typeface="Calibri" pitchFamily="34" charset="-122"/>
                <a:cs typeface="Calibri" pitchFamily="34" charset="-120"/>
              </a:rPr>
              <a:t>Đã làm — kèm ghi chú, ảnh, tiền công</a:t>
            </a:r>
            <a:endParaRPr lang="en-US" sz="1150" dirty="0"/>
          </a:p>
        </p:txBody>
      </p:sp>
      <p:sp>
        <p:nvSpPr>
          <p:cNvPr id="8" name="Shape 5"/>
          <p:cNvSpPr/>
          <p:nvPr/>
        </p:nvSpPr>
        <p:spPr>
          <a:xfrm>
            <a:off x="6415888" y="2011680"/>
            <a:ext cx="2331720" cy="4846320"/>
          </a:xfrm>
          <a:prstGeom prst="roundRect">
            <a:avLst>
              <a:gd name="adj" fmla="val 3922"/>
            </a:avLst>
          </a:prstGeom>
          <a:solidFill>
            <a:srgbClr val="F4F5F3"/>
          </a:solidFill>
          <a:ln w="12700">
            <a:solidFill>
              <a:srgbClr val="D5E4D9"/>
            </a:solidFill>
            <a:prstDash val="solid"/>
          </a:ln>
        </p:spPr>
      </p:sp>
      <p:pic>
        <p:nvPicPr>
          <p:cNvPr id="9" name="Image 1" descr="D:\AgriXAI Farmer\docs\screenshots\91-v21-task-note-photo-pending.png">    </p:cNvPr>
          <p:cNvPicPr>
            <a:picLocks noChangeAspect="1"/>
          </p:cNvPicPr>
          <p:nvPr/>
        </p:nvPicPr>
        <p:blipFill>
          <a:blip r:embed="rId2"/>
          <a:stretch>
            <a:fillRect/>
          </a:stretch>
        </p:blipFill>
        <p:spPr>
          <a:xfrm>
            <a:off x="6553048" y="2148840"/>
            <a:ext cx="2057400" cy="4572000"/>
          </a:xfrm>
          <a:prstGeom prst="rect">
            <a:avLst/>
          </a:prstGeom>
        </p:spPr>
      </p:pic>
      <p:sp>
        <p:nvSpPr>
          <p:cNvPr id="10" name="Text 6"/>
          <p:cNvSpPr txBox="1"/>
          <p:nvPr/>
        </p:nvSpPr>
        <p:spPr>
          <a:xfrm>
            <a:off x="6415888" y="6949440"/>
            <a:ext cx="2331720" cy="548640"/>
          </a:xfrm>
          <a:prstGeom prst="rect">
            <a:avLst/>
          </a:prstGeom>
          <a:noFill/>
          <a:ln/>
        </p:spPr>
        <p:txBody>
          <a:bodyPr wrap="square" lIns="0" tIns="0" rIns="0" bIns="0" rtlCol="0" anchor="ctr"/>
          <a:lstStyle/>
          <a:p>
            <a:pPr algn="ctr" indent="0" marL="0">
              <a:lnSpc>
                <a:spcPct val="115000"/>
              </a:lnSpc>
              <a:buNone/>
            </a:pPr>
            <a:r>
              <a:rPr lang="en-US" sz="1150" dirty="0">
                <a:solidFill>
                  <a:srgbClr val="5B6B60"/>
                </a:solidFill>
                <a:latin typeface="Calibri" pitchFamily="34" charset="0"/>
                <a:ea typeface="Calibri" pitchFamily="34" charset="-122"/>
                <a:cs typeface="Calibri" pitchFamily="34" charset="-120"/>
              </a:rPr>
              <a:t>Chờ tải lên — đồng bộ khi có sóng</a:t>
            </a:r>
            <a:endParaRPr lang="en-US" sz="1150" dirty="0"/>
          </a:p>
        </p:txBody>
      </p:sp>
      <p:sp>
        <p:nvSpPr>
          <p:cNvPr id="11" name="Text 7"/>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TÍNH NĂNG 4</a:t>
            </a:r>
            <a:endParaRPr lang="en-US" sz="1200" dirty="0"/>
          </a:p>
        </p:txBody>
      </p:sp>
      <p:sp>
        <p:nvSpPr>
          <p:cNvPr id="3" name="Text 1"/>
          <p:cNvSpPr txBox="1"/>
          <p:nvPr/>
        </p:nvSpPr>
        <p:spPr>
          <a:xfrm>
            <a:off x="640080" y="777240"/>
            <a:ext cx="6675120" cy="502920"/>
          </a:xfrm>
          <a:prstGeom prst="rect">
            <a:avLst/>
          </a:prstGeom>
          <a:noFill/>
          <a:ln/>
        </p:spPr>
        <p:txBody>
          <a:bodyPr wrap="square" lIns="0" tIns="0" rIns="0" bIns="0" rtlCol="0" anchor="ctr"/>
          <a:lstStyle/>
          <a:p>
            <a:pPr indent="0" marL="0">
              <a:buNone/>
            </a:pPr>
            <a:r>
              <a:rPr lang="en-US" sz="2700" b="1" dirty="0">
                <a:solidFill>
                  <a:srgbClr val="1C2B20"/>
                </a:solidFill>
                <a:latin typeface="Cambria" pitchFamily="34" charset="0"/>
                <a:ea typeface="Cambria" pitchFamily="34" charset="-122"/>
                <a:cs typeface="Cambria" pitchFamily="34" charset="-120"/>
              </a:rPr>
              <a:t>Gợi ý cây theo mùa</a:t>
            </a:r>
            <a:endParaRPr lang="en-US" sz="2700" dirty="0"/>
          </a:p>
        </p:txBody>
      </p:sp>
      <p:sp>
        <p:nvSpPr>
          <p:cNvPr id="4" name="Text 2"/>
          <p:cNvSpPr txBox="1"/>
          <p:nvPr/>
        </p:nvSpPr>
        <p:spPr>
          <a:xfrm>
            <a:off x="640080" y="1325880"/>
            <a:ext cx="6675120" cy="822960"/>
          </a:xfrm>
          <a:prstGeom prst="rect">
            <a:avLst/>
          </a:prstGeom>
          <a:noFill/>
          <a:ln/>
        </p:spPr>
        <p:txBody>
          <a:bodyPr wrap="square" lIns="0" tIns="0" rIns="0" bIns="0" rtlCol="0" anchor="ctr"/>
          <a:lstStyle/>
          <a:p>
            <a:pPr indent="0" marL="0">
              <a:lnSpc>
                <a:spcPct val="125000"/>
              </a:lnSpc>
              <a:buNone/>
            </a:pPr>
            <a:r>
              <a:rPr lang="en-US" sz="1300" dirty="0">
                <a:solidFill>
                  <a:srgbClr val="1C2B20"/>
                </a:solidFill>
                <a:latin typeface="Calibri" pitchFamily="34" charset="0"/>
                <a:ea typeface="Calibri" pitchFamily="34" charset="-122"/>
                <a:cs typeface="Calibri" pitchFamily="34" charset="-120"/>
              </a:rPr>
              <a:t>Chỉ xếp hạng cây đã từng trồng trên chính lô đó theo năng suất trung bình thật, ưu tiên các vụ cùng mùa. Không có vụ cùng mùa thì dùng mọi mùa và nói rõ điều đó.</a:t>
            </a:r>
            <a:endParaRPr lang="en-US" sz="1300" dirty="0"/>
          </a:p>
        </p:txBody>
      </p:sp>
      <p:sp>
        <p:nvSpPr>
          <p:cNvPr id="5" name="Shape 3"/>
          <p:cNvSpPr/>
          <p:nvPr/>
        </p:nvSpPr>
        <p:spPr>
          <a:xfrm>
            <a:off x="640080" y="2331720"/>
            <a:ext cx="6675120" cy="1920240"/>
          </a:xfrm>
          <a:prstGeom prst="roundRect">
            <a:avLst>
              <a:gd name="adj" fmla="val 5714"/>
            </a:avLst>
          </a:prstGeom>
          <a:solidFill>
            <a:srgbClr val="EAF3EC"/>
          </a:solidFill>
          <a:ln/>
        </p:spPr>
      </p:sp>
      <p:sp>
        <p:nvSpPr>
          <p:cNvPr id="6" name="Text 4"/>
          <p:cNvSpPr txBox="1"/>
          <p:nvPr/>
        </p:nvSpPr>
        <p:spPr>
          <a:xfrm>
            <a:off x="914400" y="2514600"/>
            <a:ext cx="6126480" cy="320040"/>
          </a:xfrm>
          <a:prstGeom prst="rect">
            <a:avLst/>
          </a:prstGeom>
          <a:noFill/>
          <a:ln/>
        </p:spPr>
        <p:txBody>
          <a:bodyPr wrap="square" lIns="0" tIns="0" rIns="0" bIns="0" rtlCol="0" anchor="ctr"/>
          <a:lstStyle/>
          <a:p>
            <a:pPr indent="0" marL="0">
              <a:buNone/>
            </a:pPr>
            <a:r>
              <a:rPr lang="en-US" sz="1250" b="1" dirty="0">
                <a:solidFill>
                  <a:srgbClr val="2E6F40"/>
                </a:solidFill>
                <a:latin typeface="Calibri" pitchFamily="34" charset="0"/>
                <a:ea typeface="Calibri" pitchFamily="34" charset="-122"/>
                <a:cs typeface="Calibri" pitchFamily="34" charset="-120"/>
              </a:rPr>
              <a:t>Ví dụ thật trên lô demo</a:t>
            </a:r>
            <a:endParaRPr lang="en-US" sz="1250" dirty="0"/>
          </a:p>
        </p:txBody>
      </p:sp>
      <p:sp>
        <p:nvSpPr>
          <p:cNvPr id="7" name="Text 5"/>
          <p:cNvSpPr txBox="1"/>
          <p:nvPr/>
        </p:nvSpPr>
        <p:spPr>
          <a:xfrm>
            <a:off x="914400" y="2880360"/>
            <a:ext cx="6126480" cy="1234440"/>
          </a:xfrm>
          <a:prstGeom prst="rect">
            <a:avLst/>
          </a:prstGeom>
          <a:noFill/>
          <a:ln/>
        </p:spPr>
        <p:txBody>
          <a:bodyPr wrap="square" lIns="0" tIns="0" rIns="0" bIns="0" rtlCol="0" anchor="ctr"/>
          <a:lstStyle/>
          <a:p>
            <a:pPr indent="0" marL="0">
              <a:lnSpc>
                <a:spcPct val="125000"/>
              </a:lnSpc>
              <a:buNone/>
            </a:pPr>
            <a:r>
              <a:rPr lang="en-US" sz="1300" dirty="0">
                <a:solidFill>
                  <a:srgbClr val="1C2B20"/>
                </a:solidFill>
                <a:latin typeface="Calibri" pitchFamily="34" charset="0"/>
                <a:ea typeface="Calibri" pitchFamily="34" charset="-122"/>
                <a:cs typeface="Calibri" pitchFamily="34" charset="-120"/>
              </a:rPr>
              <a:t>Lô demo chỉ từng trồng Cà chua vào mùa xuân — 2 vụ, 4.600 và 4.100 kg/1.000m². Chưa vụ nào khác từng trồng vào xuân trên lô này. → Vụ xuân tới, app gợi ý: Cà chua.</a:t>
            </a:r>
            <a:endParaRPr lang="en-US" sz="1300" dirty="0"/>
          </a:p>
        </p:txBody>
      </p:sp>
      <p:sp>
        <p:nvSpPr>
          <p:cNvPr id="8" name="Shape 6"/>
          <p:cNvSpPr/>
          <p:nvPr/>
        </p:nvSpPr>
        <p:spPr>
          <a:xfrm>
            <a:off x="685800" y="4572000"/>
            <a:ext cx="82296" cy="82296"/>
          </a:xfrm>
          <a:prstGeom prst="ellipse">
            <a:avLst/>
          </a:prstGeom>
          <a:solidFill>
            <a:srgbClr val="D9A441"/>
          </a:solidFill>
          <a:ln/>
        </p:spPr>
      </p:sp>
      <p:sp>
        <p:nvSpPr>
          <p:cNvPr id="9" name="Text 7"/>
          <p:cNvSpPr txBox="1"/>
          <p:nvPr/>
        </p:nvSpPr>
        <p:spPr>
          <a:xfrm>
            <a:off x="914400" y="4434840"/>
            <a:ext cx="6400800" cy="1188720"/>
          </a:xfrm>
          <a:prstGeom prst="rect">
            <a:avLst/>
          </a:prstGeom>
          <a:noFill/>
          <a:ln/>
        </p:spPr>
        <p:txBody>
          <a:bodyPr wrap="square" lIns="0" tIns="0" rIns="0" bIns="0" rtlCol="0" anchor="ctr"/>
          <a:lstStyle/>
          <a:p>
            <a:pPr indent="0" marL="0">
              <a:lnSpc>
                <a:spcPct val="125000"/>
              </a:lnSpc>
              <a:buNone/>
            </a:pPr>
            <a:r>
              <a:rPr lang="en-US" sz="1200" i="1" dirty="0">
                <a:solidFill>
                  <a:srgbClr val="5B6B60"/>
                </a:solidFill>
                <a:latin typeface="Calibri" pitchFamily="34" charset="0"/>
                <a:ea typeface="Calibri" pitchFamily="34" charset="-122"/>
                <a:cs typeface="Calibri" pitchFamily="34" charset="-120"/>
              </a:rPr>
              <a:t>Có chủ đích KHÔNG gợi ý trồng xen / khoảng cách giữa các cây — dự án yêu cầu mọi số liệu nông học phải có nguồn chính thống, chưa có bộ dữ liệu như vậy để trích dẫn.</a:t>
            </a:r>
            <a:endParaRPr lang="en-US" sz="1200" dirty="0"/>
          </a:p>
        </p:txBody>
      </p:sp>
      <p:sp>
        <p:nvSpPr>
          <p:cNvPr id="10" name="Shape 8"/>
          <p:cNvSpPr/>
          <p:nvPr/>
        </p:nvSpPr>
        <p:spPr>
          <a:xfrm>
            <a:off x="9052560" y="1508760"/>
            <a:ext cx="2468880" cy="5151120"/>
          </a:xfrm>
          <a:prstGeom prst="roundRect">
            <a:avLst>
              <a:gd name="adj" fmla="val 3704"/>
            </a:avLst>
          </a:prstGeom>
          <a:solidFill>
            <a:srgbClr val="F4F5F3"/>
          </a:solidFill>
          <a:ln w="12700">
            <a:solidFill>
              <a:srgbClr val="D5E4D9"/>
            </a:solidFill>
            <a:prstDash val="solid"/>
          </a:ln>
        </p:spPr>
      </p:sp>
      <p:pic>
        <p:nvPicPr>
          <p:cNvPr id="11" name="Image 0" descr="D:\AgriXAI Farmer\docs\screenshots\86-v21-crop-suggestion-spring.png">    </p:cNvPr>
          <p:cNvPicPr>
            <a:picLocks noChangeAspect="1"/>
          </p:cNvPicPr>
          <p:nvPr/>
        </p:nvPicPr>
        <p:blipFill>
          <a:blip r:embed="rId1"/>
          <a:stretch>
            <a:fillRect/>
          </a:stretch>
        </p:blipFill>
        <p:spPr>
          <a:xfrm>
            <a:off x="9189720" y="1645920"/>
            <a:ext cx="2194560" cy="4876800"/>
          </a:xfrm>
          <a:prstGeom prst="rect">
            <a:avLst/>
          </a:prstGeom>
        </p:spPr>
      </p:pic>
      <p:sp>
        <p:nvSpPr>
          <p:cNvPr id="12" name="Text 9"/>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TÍNH NĂNG 5</a:t>
            </a:r>
            <a:endParaRPr lang="en-US" sz="1200" dirty="0"/>
          </a:p>
        </p:txBody>
      </p:sp>
      <p:sp>
        <p:nvSpPr>
          <p:cNvPr id="3" name="Text 1"/>
          <p:cNvSpPr txBox="1"/>
          <p:nvPr/>
        </p:nvSpPr>
        <p:spPr>
          <a:xfrm>
            <a:off x="640080" y="777240"/>
            <a:ext cx="6675120" cy="502920"/>
          </a:xfrm>
          <a:prstGeom prst="rect">
            <a:avLst/>
          </a:prstGeom>
          <a:noFill/>
          <a:ln/>
        </p:spPr>
        <p:txBody>
          <a:bodyPr wrap="square" lIns="0" tIns="0" rIns="0" bIns="0" rtlCol="0" anchor="ctr"/>
          <a:lstStyle/>
          <a:p>
            <a:pPr indent="0" marL="0">
              <a:buNone/>
            </a:pPr>
            <a:r>
              <a:rPr lang="en-US" sz="2700" b="1" dirty="0">
                <a:solidFill>
                  <a:srgbClr val="1C2B20"/>
                </a:solidFill>
                <a:latin typeface="Cambria" pitchFamily="34" charset="0"/>
                <a:ea typeface="Cambria" pitchFamily="34" charset="-122"/>
                <a:cs typeface="Cambria" pitchFamily="34" charset="-120"/>
              </a:rPr>
              <a:t>Tiền công nhân công</a:t>
            </a:r>
            <a:endParaRPr lang="en-US" sz="2700" dirty="0"/>
          </a:p>
        </p:txBody>
      </p:sp>
      <p:sp>
        <p:nvSpPr>
          <p:cNvPr id="4" name="Text 2"/>
          <p:cNvSpPr txBox="1"/>
          <p:nvPr/>
        </p:nvSpPr>
        <p:spPr>
          <a:xfrm>
            <a:off x="640080" y="1298448"/>
            <a:ext cx="6675120" cy="548640"/>
          </a:xfrm>
          <a:prstGeom prst="rect">
            <a:avLst/>
          </a:prstGeom>
          <a:noFill/>
          <a:ln/>
        </p:spPr>
        <p:txBody>
          <a:bodyPr wrap="square" lIns="0" tIns="0" rIns="0" bIns="0" rtlCol="0" anchor="ctr"/>
          <a:lstStyle/>
          <a:p>
            <a:pPr indent="0" marL="0">
              <a:lnSpc>
                <a:spcPct val="120000"/>
              </a:lnSpc>
              <a:buNone/>
            </a:pPr>
            <a:r>
              <a:rPr lang="en-US" sz="1300" dirty="0">
                <a:solidFill>
                  <a:srgbClr val="5B6B60"/>
                </a:solidFill>
                <a:latin typeface="Calibri" pitchFamily="34" charset="0"/>
                <a:ea typeface="Calibri" pitchFamily="34" charset="-122"/>
                <a:cs typeface="Calibri" pitchFamily="34" charset="-120"/>
              </a:rPr>
              <a:t>Tính theo giờ, theo ngày, hoặc khoán. Là một khoản chi nên tự vào Thu – Chi thay vì một sổ riêng.</a:t>
            </a:r>
            <a:endParaRPr lang="en-US" sz="1300" dirty="0"/>
          </a:p>
        </p:txBody>
      </p:sp>
      <p:sp>
        <p:nvSpPr>
          <p:cNvPr id="5" name="Shape 3"/>
          <p:cNvSpPr/>
          <p:nvPr/>
        </p:nvSpPr>
        <p:spPr>
          <a:xfrm>
            <a:off x="640080" y="2148840"/>
            <a:ext cx="6675120" cy="3108960"/>
          </a:xfrm>
          <a:prstGeom prst="roundRect">
            <a:avLst>
              <a:gd name="adj" fmla="val 3529"/>
            </a:avLst>
          </a:prstGeom>
          <a:solidFill>
            <a:srgbClr val="1F4D2E"/>
          </a:solidFill>
          <a:ln/>
        </p:spPr>
      </p:sp>
      <p:sp>
        <p:nvSpPr>
          <p:cNvPr id="6" name="Shape 4"/>
          <p:cNvSpPr/>
          <p:nvPr/>
        </p:nvSpPr>
        <p:spPr>
          <a:xfrm>
            <a:off x="960120" y="2423160"/>
            <a:ext cx="685800" cy="685800"/>
          </a:xfrm>
          <a:prstGeom prst="ellipse">
            <a:avLst/>
          </a:prstGeom>
          <a:solidFill>
            <a:srgbClr val="2E6F40"/>
          </a:solidFill>
          <a:ln/>
        </p:spPr>
      </p:sp>
      <p:pic>
        <p:nvPicPr>
          <p:cNvPr id="7" name="Image 0" descr="C:\Users\Maxsys\AppData\Local\Temp\claude\d--AgriXAI-Farmer\9d658242-07c0-4b4a-b8de-708653b0dceb\scratchpad\pptx\icons\money.png">    </p:cNvPr>
          <p:cNvPicPr>
            <a:picLocks noChangeAspect="1"/>
          </p:cNvPicPr>
          <p:nvPr/>
        </p:nvPicPr>
        <p:blipFill>
          <a:blip r:embed="rId1"/>
          <a:stretch>
            <a:fillRect/>
          </a:stretch>
        </p:blipFill>
        <p:spPr>
          <a:xfrm>
            <a:off x="1049274" y="2512314"/>
            <a:ext cx="507492" cy="507492"/>
          </a:xfrm>
          <a:prstGeom prst="rect">
            <a:avLst/>
          </a:prstGeom>
        </p:spPr>
      </p:pic>
      <p:sp>
        <p:nvSpPr>
          <p:cNvPr id="8" name="Text 5"/>
          <p:cNvSpPr txBox="1"/>
          <p:nvPr/>
        </p:nvSpPr>
        <p:spPr>
          <a:xfrm>
            <a:off x="1828800" y="2377440"/>
            <a:ext cx="5212080" cy="822960"/>
          </a:xfrm>
          <a:prstGeom prst="rect">
            <a:avLst/>
          </a:prstGeom>
          <a:noFill/>
          <a:ln/>
        </p:spPr>
        <p:txBody>
          <a:bodyPr wrap="square" lIns="0" tIns="0" rIns="0" bIns="0" rtlCol="0" anchor="ctr"/>
          <a:lstStyle/>
          <a:p>
            <a:pPr indent="0" marL="0">
              <a:buNone/>
            </a:pPr>
            <a:r>
              <a:rPr lang="en-US" sz="4600" b="1" dirty="0">
                <a:solidFill>
                  <a:srgbClr val="D9A441"/>
                </a:solidFill>
                <a:latin typeface="Cambria" pitchFamily="34" charset="0"/>
                <a:ea typeface="Cambria" pitchFamily="34" charset="-122"/>
                <a:cs typeface="Cambria" pitchFamily="34" charset="-120"/>
              </a:rPr>
              <a:t>60.000₫</a:t>
            </a:r>
            <a:endParaRPr lang="en-US" sz="4600" dirty="0"/>
          </a:p>
        </p:txBody>
      </p:sp>
      <p:sp>
        <p:nvSpPr>
          <p:cNvPr id="9" name="Text 6"/>
          <p:cNvSpPr txBox="1"/>
          <p:nvPr/>
        </p:nvSpPr>
        <p:spPr>
          <a:xfrm>
            <a:off x="1828800" y="3154680"/>
            <a:ext cx="5212080" cy="411480"/>
          </a:xfrm>
          <a:prstGeom prst="rect">
            <a:avLst/>
          </a:prstGeom>
          <a:noFill/>
          <a:ln/>
        </p:spPr>
        <p:txBody>
          <a:bodyPr wrap="square" lIns="0" tIns="0" rIns="0" bIns="0" rtlCol="0" anchor="ctr"/>
          <a:lstStyle/>
          <a:p>
            <a:pPr indent="0" marL="0">
              <a:buNone/>
            </a:pPr>
            <a:r>
              <a:rPr lang="en-US" sz="1500" dirty="0">
                <a:solidFill>
                  <a:srgbClr val="F3F7F4"/>
                </a:solidFill>
                <a:latin typeface="Calibri" pitchFamily="34" charset="0"/>
                <a:ea typeface="Calibri" pitchFamily="34" charset="-122"/>
                <a:cs typeface="Calibri" pitchFamily="34" charset="-120"/>
              </a:rPr>
              <a:t>1 người  ×  2 giờ  ×  30.000₫ / giờ</a:t>
            </a:r>
            <a:endParaRPr lang="en-US" sz="1500" dirty="0"/>
          </a:p>
        </p:txBody>
      </p:sp>
      <p:sp>
        <p:nvSpPr>
          <p:cNvPr id="10" name="Shape 7"/>
          <p:cNvSpPr/>
          <p:nvPr/>
        </p:nvSpPr>
        <p:spPr>
          <a:xfrm>
            <a:off x="960120" y="3794760"/>
            <a:ext cx="6035040" cy="0"/>
          </a:xfrm>
          <a:prstGeom prst="line">
            <a:avLst/>
          </a:prstGeom>
          <a:noFill/>
          <a:ln w="12700">
            <a:solidFill>
              <a:srgbClr val="2E5B3C"/>
            </a:solidFill>
            <a:prstDash val="solid"/>
          </a:ln>
        </p:spPr>
      </p:sp>
      <p:sp>
        <p:nvSpPr>
          <p:cNvPr id="11" name="Text 8"/>
          <p:cNvSpPr txBox="1"/>
          <p:nvPr/>
        </p:nvSpPr>
        <p:spPr>
          <a:xfrm>
            <a:off x="960120" y="3931920"/>
            <a:ext cx="6035040" cy="1188720"/>
          </a:xfrm>
          <a:prstGeom prst="rect">
            <a:avLst/>
          </a:prstGeom>
          <a:noFill/>
          <a:ln/>
        </p:spPr>
        <p:txBody>
          <a:bodyPr wrap="square" lIns="0" tIns="0" rIns="0" bIns="0" rtlCol="0" anchor="ctr"/>
          <a:lstStyle/>
          <a:p>
            <a:pPr indent="0" marL="0">
              <a:lnSpc>
                <a:spcPct val="125000"/>
              </a:lnSpc>
              <a:buNone/>
            </a:pPr>
            <a:r>
              <a:rPr lang="en-US" sz="1200" dirty="0">
                <a:solidFill>
                  <a:srgbClr val="BFD9C8"/>
                </a:solidFill>
                <a:latin typeface="Calibri" pitchFamily="34" charset="0"/>
                <a:ea typeface="Calibri" pitchFamily="34" charset="-122"/>
                <a:cs typeface="Calibri" pitchFamily="34" charset="-120"/>
              </a:rPr>
              <a:t>Tự vào Thu – Chi như một khoản chi “Công nhân” trong báo cáo tháng — không cần ghi lại lần hai. Cách tính giống hệt ở điện thoại (offline) và máy chủ (luật làm tròn nửa lên, thống nhất Python/JS).</a:t>
            </a:r>
            <a:endParaRPr lang="en-US" sz="1200" dirty="0"/>
          </a:p>
        </p:txBody>
      </p:sp>
      <p:sp>
        <p:nvSpPr>
          <p:cNvPr id="12" name="Shape 9"/>
          <p:cNvSpPr/>
          <p:nvPr/>
        </p:nvSpPr>
        <p:spPr>
          <a:xfrm>
            <a:off x="9052560" y="1737360"/>
            <a:ext cx="2468880" cy="5151120"/>
          </a:xfrm>
          <a:prstGeom prst="roundRect">
            <a:avLst>
              <a:gd name="adj" fmla="val 3704"/>
            </a:avLst>
          </a:prstGeom>
          <a:solidFill>
            <a:srgbClr val="F4F5F3"/>
          </a:solidFill>
          <a:ln w="12700">
            <a:solidFill>
              <a:srgbClr val="D5E4D9"/>
            </a:solidFill>
            <a:prstDash val="solid"/>
          </a:ln>
        </p:spPr>
      </p:sp>
      <p:pic>
        <p:nvPicPr>
          <p:cNvPr id="13" name="Image 1" descr="D:\AgriXAI Farmer\docs\screenshots\92-v21-labor-cost-60000.png">    </p:cNvPr>
          <p:cNvPicPr>
            <a:picLocks noChangeAspect="1"/>
          </p:cNvPicPr>
          <p:nvPr/>
        </p:nvPicPr>
        <p:blipFill>
          <a:blip r:embed="rId2"/>
          <a:stretch>
            <a:fillRect/>
          </a:stretch>
        </p:blipFill>
        <p:spPr>
          <a:xfrm>
            <a:off x="9189720" y="1874520"/>
            <a:ext cx="2194560" cy="4876800"/>
          </a:xfrm>
          <a:prstGeom prst="rect">
            <a:avLst/>
          </a:prstGeom>
        </p:spPr>
      </p:pic>
      <p:sp>
        <p:nvSpPr>
          <p:cNvPr id="14" name="Text 10"/>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KIẾN TRÚC</a:t>
            </a:r>
            <a:endParaRPr lang="en-US" sz="1200" dirty="0"/>
          </a:p>
        </p:txBody>
      </p:sp>
      <p:sp>
        <p:nvSpPr>
          <p:cNvPr id="3" name="Text 1"/>
          <p:cNvSpPr txBox="1"/>
          <p:nvPr/>
        </p:nvSpPr>
        <p:spPr>
          <a:xfrm>
            <a:off x="640080" y="777240"/>
            <a:ext cx="10881360" cy="502920"/>
          </a:xfrm>
          <a:prstGeom prst="rect">
            <a:avLst/>
          </a:prstGeom>
          <a:noFill/>
          <a:ln/>
        </p:spPr>
        <p:txBody>
          <a:bodyPr wrap="square" lIns="0" tIns="0" rIns="0" bIns="0" rtlCol="0" anchor="ctr"/>
          <a:lstStyle/>
          <a:p>
            <a:pPr indent="0" marL="0">
              <a:buNone/>
            </a:pPr>
            <a:r>
              <a:rPr lang="en-US" sz="2500" b="1" dirty="0">
                <a:solidFill>
                  <a:srgbClr val="1C2B20"/>
                </a:solidFill>
                <a:latin typeface="Cambria" pitchFamily="34" charset="0"/>
                <a:ea typeface="Cambria" pitchFamily="34" charset="-122"/>
                <a:cs typeface="Cambria" pitchFamily="34" charset="-120"/>
              </a:rPr>
              <a:t>Mở rộng bảng có sẵn, không lập sổ thứ hai</a:t>
            </a:r>
            <a:endParaRPr lang="en-US" sz="2500" dirty="0"/>
          </a:p>
        </p:txBody>
      </p:sp>
      <p:sp>
        <p:nvSpPr>
          <p:cNvPr id="4" name="Text 2"/>
          <p:cNvSpPr txBox="1"/>
          <p:nvPr/>
        </p:nvSpPr>
        <p:spPr>
          <a:xfrm>
            <a:off x="640080" y="1280160"/>
            <a:ext cx="10881360" cy="457200"/>
          </a:xfrm>
          <a:prstGeom prst="rect">
            <a:avLst/>
          </a:prstGeom>
          <a:noFill/>
          <a:ln/>
        </p:spPr>
        <p:txBody>
          <a:bodyPr wrap="square" lIns="0" tIns="0" rIns="0" bIns="0" rtlCol="0" anchor="ctr"/>
          <a:lstStyle/>
          <a:p>
            <a:pPr indent="0" marL="0">
              <a:buNone/>
            </a:pPr>
            <a:r>
              <a:rPr lang="en-US" sz="1250" dirty="0">
                <a:solidFill>
                  <a:srgbClr val="5B6B60"/>
                </a:solidFill>
                <a:latin typeface="Calibri" pitchFamily="34" charset="0"/>
                <a:ea typeface="Calibri" pitchFamily="34" charset="-122"/>
                <a:cs typeface="Calibri" pitchFamily="34" charset="-120"/>
              </a:rPr>
              <a:t>crop_cycles và expense đã ghi gần hết những gì đề bài cần — thêm bảng mới thì một vụ/khoản chi có hai nơi lưu, dễ lệch nhau.</a:t>
            </a:r>
            <a:endParaRPr lang="en-US" sz="1250" dirty="0"/>
          </a:p>
        </p:txBody>
      </p:sp>
      <p:sp>
        <p:nvSpPr>
          <p:cNvPr id="5" name="Shape 3"/>
          <p:cNvSpPr/>
          <p:nvPr/>
        </p:nvSpPr>
        <p:spPr>
          <a:xfrm>
            <a:off x="640080" y="1874520"/>
            <a:ext cx="5394960" cy="4389120"/>
          </a:xfrm>
          <a:prstGeom prst="roundRect">
            <a:avLst>
              <a:gd name="adj" fmla="val 2500"/>
            </a:avLst>
          </a:prstGeom>
          <a:solidFill>
            <a:srgbClr val="EAF3EC"/>
          </a:solidFill>
          <a:ln/>
        </p:spPr>
      </p:sp>
      <p:sp>
        <p:nvSpPr>
          <p:cNvPr id="6" name="Shape 4"/>
          <p:cNvSpPr/>
          <p:nvPr/>
        </p:nvSpPr>
        <p:spPr>
          <a:xfrm>
            <a:off x="914400" y="2103120"/>
            <a:ext cx="457200" cy="457200"/>
          </a:xfrm>
          <a:prstGeom prst="ellipse">
            <a:avLst/>
          </a:prstGeom>
          <a:solidFill>
            <a:srgbClr val="2E6F40"/>
          </a:solidFill>
          <a:ln/>
        </p:spPr>
      </p:sp>
      <p:pic>
        <p:nvPicPr>
          <p:cNvPr id="7" name="Image 0" descr="C:\Users\Maxsys\AppData\Local\Temp\claude\d--AgriXAI-Farmer\9d658242-07c0-4b4a-b8de-708653b0dceb\scratchpad\pptx\icons\check.png">    </p:cNvPr>
          <p:cNvPicPr>
            <a:picLocks noChangeAspect="1"/>
          </p:cNvPicPr>
          <p:nvPr/>
        </p:nvPicPr>
        <p:blipFill>
          <a:blip r:embed="rId1"/>
          <a:stretch>
            <a:fillRect/>
          </a:stretch>
        </p:blipFill>
        <p:spPr>
          <a:xfrm>
            <a:off x="973836" y="2162556"/>
            <a:ext cx="338328" cy="338328"/>
          </a:xfrm>
          <a:prstGeom prst="rect">
            <a:avLst/>
          </a:prstGeom>
        </p:spPr>
      </p:pic>
      <p:sp>
        <p:nvSpPr>
          <p:cNvPr id="8" name="Text 5"/>
          <p:cNvSpPr txBox="1"/>
          <p:nvPr/>
        </p:nvSpPr>
        <p:spPr>
          <a:xfrm>
            <a:off x="1508760" y="2176272"/>
            <a:ext cx="4389120" cy="365760"/>
          </a:xfrm>
          <a:prstGeom prst="rect">
            <a:avLst/>
          </a:prstGeom>
          <a:noFill/>
          <a:ln/>
        </p:spPr>
        <p:txBody>
          <a:bodyPr wrap="square" lIns="0" tIns="0" rIns="0" bIns="0" rtlCol="0" anchor="ctr"/>
          <a:lstStyle/>
          <a:p>
            <a:pPr indent="0" marL="0">
              <a:buNone/>
            </a:pPr>
            <a:r>
              <a:rPr lang="en-US" sz="1350" b="1" dirty="0">
                <a:solidFill>
                  <a:srgbClr val="2E6F40"/>
                </a:solidFill>
                <a:latin typeface="Calibri" pitchFamily="34" charset="0"/>
                <a:ea typeface="Calibri" pitchFamily="34" charset="-122"/>
                <a:cs typeface="Calibri" pitchFamily="34" charset="-120"/>
              </a:rPr>
              <a:t>Đã làm — mở rộng bảng sẵn có</a:t>
            </a:r>
            <a:endParaRPr lang="en-US" sz="1350" dirty="0"/>
          </a:p>
        </p:txBody>
      </p:sp>
      <p:sp>
        <p:nvSpPr>
          <p:cNvPr id="9" name="Shape 6"/>
          <p:cNvSpPr/>
          <p:nvPr/>
        </p:nvSpPr>
        <p:spPr>
          <a:xfrm>
            <a:off x="960120" y="2834640"/>
            <a:ext cx="73152" cy="73152"/>
          </a:xfrm>
          <a:prstGeom prst="ellipse">
            <a:avLst/>
          </a:prstGeom>
          <a:solidFill>
            <a:srgbClr val="2E6F40"/>
          </a:solidFill>
          <a:ln/>
        </p:spPr>
      </p:sp>
      <p:sp>
        <p:nvSpPr>
          <p:cNvPr id="10" name="Text 7"/>
          <p:cNvSpPr txBox="1"/>
          <p:nvPr/>
        </p:nvSpPr>
        <p:spPr>
          <a:xfrm>
            <a:off x="1170432" y="2697480"/>
            <a:ext cx="4663440" cy="777240"/>
          </a:xfrm>
          <a:prstGeom prst="rect">
            <a:avLst/>
          </a:prstGeom>
          <a:noFill/>
          <a:ln/>
        </p:spPr>
        <p:txBody>
          <a:bodyPr wrap="square" lIns="0" tIns="0" rIns="0" bIns="0" rtlCol="0" anchor="ctr"/>
          <a:lstStyle/>
          <a:p>
            <a:pPr indent="0" marL="0">
              <a:lnSpc>
                <a:spcPct val="120000"/>
              </a:lnSpc>
              <a:buNone/>
            </a:pPr>
            <a:r>
              <a:rPr lang="en-US" sz="1200" dirty="0">
                <a:solidFill>
                  <a:srgbClr val="1C2B20"/>
                </a:solidFill>
                <a:latin typeface="Calibri" pitchFamily="34" charset="0"/>
                <a:ea typeface="Calibri" pitchFamily="34" charset="-122"/>
                <a:cs typeface="Calibri" pitchFamily="34" charset="-120"/>
              </a:rPr>
              <a:t>crop_cycles + crop_name, season, area_m2, media_json</a:t>
            </a:r>
            <a:endParaRPr lang="en-US" sz="1200" dirty="0"/>
          </a:p>
        </p:txBody>
      </p:sp>
      <p:sp>
        <p:nvSpPr>
          <p:cNvPr id="11" name="Shape 8"/>
          <p:cNvSpPr/>
          <p:nvPr/>
        </p:nvSpPr>
        <p:spPr>
          <a:xfrm>
            <a:off x="960120" y="3703320"/>
            <a:ext cx="73152" cy="73152"/>
          </a:xfrm>
          <a:prstGeom prst="ellipse">
            <a:avLst/>
          </a:prstGeom>
          <a:solidFill>
            <a:srgbClr val="2E6F40"/>
          </a:solidFill>
          <a:ln/>
        </p:spPr>
      </p:sp>
      <p:sp>
        <p:nvSpPr>
          <p:cNvPr id="12" name="Text 9"/>
          <p:cNvSpPr txBox="1"/>
          <p:nvPr/>
        </p:nvSpPr>
        <p:spPr>
          <a:xfrm>
            <a:off x="1170432" y="3566160"/>
            <a:ext cx="4663440" cy="777240"/>
          </a:xfrm>
          <a:prstGeom prst="rect">
            <a:avLst/>
          </a:prstGeom>
          <a:noFill/>
          <a:ln/>
        </p:spPr>
        <p:txBody>
          <a:bodyPr wrap="square" lIns="0" tIns="0" rIns="0" bIns="0" rtlCol="0" anchor="ctr"/>
          <a:lstStyle/>
          <a:p>
            <a:pPr indent="0" marL="0">
              <a:lnSpc>
                <a:spcPct val="120000"/>
              </a:lnSpc>
              <a:buNone/>
            </a:pPr>
            <a:r>
              <a:rPr lang="en-US" sz="1200" dirty="0">
                <a:solidFill>
                  <a:srgbClr val="1C2B20"/>
                </a:solidFill>
                <a:latin typeface="Calibri" pitchFamily="34" charset="0"/>
                <a:ea typeface="Calibri" pitchFamily="34" charset="-122"/>
                <a:cs typeface="Calibri" pitchFamily="34" charset="-120"/>
              </a:rPr>
              <a:t>expense (kind=labor) + task_id, workers, quantity, unit, unit_price</a:t>
            </a:r>
            <a:endParaRPr lang="en-US" sz="1200" dirty="0"/>
          </a:p>
        </p:txBody>
      </p:sp>
      <p:sp>
        <p:nvSpPr>
          <p:cNvPr id="13" name="Shape 10"/>
          <p:cNvSpPr/>
          <p:nvPr/>
        </p:nvSpPr>
        <p:spPr>
          <a:xfrm>
            <a:off x="960120" y="4572000"/>
            <a:ext cx="73152" cy="73152"/>
          </a:xfrm>
          <a:prstGeom prst="ellipse">
            <a:avLst/>
          </a:prstGeom>
          <a:solidFill>
            <a:srgbClr val="2E6F40"/>
          </a:solidFill>
          <a:ln/>
        </p:spPr>
      </p:sp>
      <p:sp>
        <p:nvSpPr>
          <p:cNvPr id="14" name="Text 11"/>
          <p:cNvSpPr txBox="1"/>
          <p:nvPr/>
        </p:nvSpPr>
        <p:spPr>
          <a:xfrm>
            <a:off x="1170432" y="4434840"/>
            <a:ext cx="4663440" cy="777240"/>
          </a:xfrm>
          <a:prstGeom prst="rect">
            <a:avLst/>
          </a:prstGeom>
          <a:noFill/>
          <a:ln/>
        </p:spPr>
        <p:txBody>
          <a:bodyPr wrap="square" lIns="0" tIns="0" rIns="0" bIns="0" rtlCol="0" anchor="ctr"/>
          <a:lstStyle/>
          <a:p>
            <a:pPr indent="0" marL="0">
              <a:lnSpc>
                <a:spcPct val="120000"/>
              </a:lnSpc>
              <a:buNone/>
            </a:pPr>
            <a:r>
              <a:rPr lang="en-US" sz="1200" dirty="0">
                <a:solidFill>
                  <a:srgbClr val="1C2B20"/>
                </a:solidFill>
                <a:latin typeface="Calibri" pitchFamily="34" charset="0"/>
                <a:ea typeface="Calibri" pitchFamily="34" charset="-122"/>
                <a:cs typeface="Calibri" pitchFamily="34" charset="-120"/>
              </a:rPr>
              <a:t>Bảng mới chỉ cho việc chưa có chỗ nào sẵn: task_notes, care_guides (chỉ admin ghi), media_files (chỉ máy chủ)</a:t>
            </a:r>
            <a:endParaRPr lang="en-US" sz="1200" dirty="0"/>
          </a:p>
        </p:txBody>
      </p:sp>
      <p:sp>
        <p:nvSpPr>
          <p:cNvPr id="15" name="Shape 12"/>
          <p:cNvSpPr/>
          <p:nvPr/>
        </p:nvSpPr>
        <p:spPr>
          <a:xfrm>
            <a:off x="960120" y="5440680"/>
            <a:ext cx="73152" cy="73152"/>
          </a:xfrm>
          <a:prstGeom prst="ellipse">
            <a:avLst/>
          </a:prstGeom>
          <a:solidFill>
            <a:srgbClr val="2E6F40"/>
          </a:solidFill>
          <a:ln/>
        </p:spPr>
      </p:sp>
      <p:sp>
        <p:nvSpPr>
          <p:cNvPr id="16" name="Text 13"/>
          <p:cNvSpPr txBox="1"/>
          <p:nvPr/>
        </p:nvSpPr>
        <p:spPr>
          <a:xfrm>
            <a:off x="1170432" y="5303520"/>
            <a:ext cx="4663440" cy="777240"/>
          </a:xfrm>
          <a:prstGeom prst="rect">
            <a:avLst/>
          </a:prstGeom>
          <a:noFill/>
          <a:ln/>
        </p:spPr>
        <p:txBody>
          <a:bodyPr wrap="square" lIns="0" tIns="0" rIns="0" bIns="0" rtlCol="0" anchor="ctr"/>
          <a:lstStyle/>
          <a:p>
            <a:pPr indent="0" marL="0">
              <a:lnSpc>
                <a:spcPct val="120000"/>
              </a:lnSpc>
              <a:buNone/>
            </a:pPr>
            <a:r>
              <a:rPr lang="en-US" sz="1200" dirty="0">
                <a:solidFill>
                  <a:srgbClr val="1C2B20"/>
                </a:solidFill>
                <a:latin typeface="Calibri" pitchFamily="34" charset="0"/>
                <a:ea typeface="Calibri" pitchFamily="34" charset="-122"/>
                <a:cs typeface="Calibri" pitchFamily="34" charset="-120"/>
              </a:rPr>
              <a:t>crop_performance: tính khi cần, không lưu sẵn — số dẫn xuất được thì không thêm chỗ để lệch</a:t>
            </a:r>
            <a:endParaRPr lang="en-US" sz="1200" dirty="0"/>
          </a:p>
        </p:txBody>
      </p:sp>
      <p:sp>
        <p:nvSpPr>
          <p:cNvPr id="17" name="Shape 14"/>
          <p:cNvSpPr/>
          <p:nvPr/>
        </p:nvSpPr>
        <p:spPr>
          <a:xfrm>
            <a:off x="6309360" y="1874520"/>
            <a:ext cx="5257800" cy="4389120"/>
          </a:xfrm>
          <a:prstGeom prst="roundRect">
            <a:avLst>
              <a:gd name="adj" fmla="val 2500"/>
            </a:avLst>
          </a:prstGeom>
          <a:solidFill>
            <a:srgbClr val="F4F5F3"/>
          </a:solidFill>
          <a:ln w="12700">
            <a:solidFill>
              <a:srgbClr val="D5E4D9"/>
            </a:solidFill>
            <a:prstDash val="solid"/>
          </a:ln>
        </p:spPr>
      </p:sp>
      <p:sp>
        <p:nvSpPr>
          <p:cNvPr id="18" name="Shape 15"/>
          <p:cNvSpPr/>
          <p:nvPr/>
        </p:nvSpPr>
        <p:spPr>
          <a:xfrm>
            <a:off x="6583680" y="2103120"/>
            <a:ext cx="457200" cy="457200"/>
          </a:xfrm>
          <a:prstGeom prst="ellipse">
            <a:avLst/>
          </a:prstGeom>
          <a:solidFill>
            <a:srgbClr val="7A8680"/>
          </a:solidFill>
          <a:ln/>
        </p:spPr>
      </p:sp>
      <p:pic>
        <p:nvPicPr>
          <p:cNvPr id="19" name="Image 1" descr="C:\Users\Maxsys\AppData\Local\Temp\claude\d--AgriXAI-Farmer\9d658242-07c0-4b4a-b8de-708653b0dceb\scratchpad\pptx\icons\xmark.png">    </p:cNvPr>
          <p:cNvPicPr>
            <a:picLocks noChangeAspect="1"/>
          </p:cNvPicPr>
          <p:nvPr/>
        </p:nvPicPr>
        <p:blipFill>
          <a:blip r:embed="rId2"/>
          <a:stretch>
            <a:fillRect/>
          </a:stretch>
        </p:blipFill>
        <p:spPr>
          <a:xfrm>
            <a:off x="6643116" y="2162556"/>
            <a:ext cx="338328" cy="338328"/>
          </a:xfrm>
          <a:prstGeom prst="rect">
            <a:avLst/>
          </a:prstGeom>
        </p:spPr>
      </p:pic>
      <p:sp>
        <p:nvSpPr>
          <p:cNvPr id="20" name="Text 16"/>
          <p:cNvSpPr txBox="1"/>
          <p:nvPr/>
        </p:nvSpPr>
        <p:spPr>
          <a:xfrm>
            <a:off x="7178040" y="2176272"/>
            <a:ext cx="4206240" cy="365760"/>
          </a:xfrm>
          <a:prstGeom prst="rect">
            <a:avLst/>
          </a:prstGeom>
          <a:noFill/>
          <a:ln/>
        </p:spPr>
        <p:txBody>
          <a:bodyPr wrap="square" lIns="0" tIns="0" rIns="0" bIns="0" rtlCol="0" anchor="ctr"/>
          <a:lstStyle/>
          <a:p>
            <a:pPr indent="0" marL="0">
              <a:buNone/>
            </a:pPr>
            <a:r>
              <a:rPr lang="en-US" sz="1350" b="1" dirty="0">
                <a:solidFill>
                  <a:srgbClr val="7A8680"/>
                </a:solidFill>
                <a:latin typeface="Calibri" pitchFamily="34" charset="0"/>
                <a:ea typeface="Calibri" pitchFamily="34" charset="-122"/>
                <a:cs typeface="Calibri" pitchFamily="34" charset="-120"/>
              </a:rPr>
              <a:t>Đề bài gốc đề nghị — không làm theo</a:t>
            </a:r>
            <a:endParaRPr lang="en-US" sz="1350" dirty="0"/>
          </a:p>
        </p:txBody>
      </p:sp>
      <p:sp>
        <p:nvSpPr>
          <p:cNvPr id="21" name="Shape 17"/>
          <p:cNvSpPr/>
          <p:nvPr/>
        </p:nvSpPr>
        <p:spPr>
          <a:xfrm>
            <a:off x="6629400" y="2834640"/>
            <a:ext cx="73152" cy="73152"/>
          </a:xfrm>
          <a:prstGeom prst="ellipse">
            <a:avLst/>
          </a:prstGeom>
          <a:solidFill>
            <a:srgbClr val="7A8680"/>
          </a:solidFill>
          <a:ln/>
        </p:spPr>
      </p:sp>
      <p:sp>
        <p:nvSpPr>
          <p:cNvPr id="22" name="Text 18"/>
          <p:cNvSpPr txBox="1"/>
          <p:nvPr/>
        </p:nvSpPr>
        <p:spPr>
          <a:xfrm>
            <a:off x="6839712" y="269748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Bảng cultivation_history riêng</a:t>
            </a:r>
            <a:endParaRPr lang="en-US" sz="1200" dirty="0"/>
          </a:p>
        </p:txBody>
      </p:sp>
      <p:sp>
        <p:nvSpPr>
          <p:cNvPr id="23" name="Shape 19"/>
          <p:cNvSpPr/>
          <p:nvPr/>
        </p:nvSpPr>
        <p:spPr>
          <a:xfrm>
            <a:off x="6629400" y="3703320"/>
            <a:ext cx="73152" cy="73152"/>
          </a:xfrm>
          <a:prstGeom prst="ellipse">
            <a:avLst/>
          </a:prstGeom>
          <a:solidFill>
            <a:srgbClr val="7A8680"/>
          </a:solidFill>
          <a:ln/>
        </p:spPr>
      </p:sp>
      <p:sp>
        <p:nvSpPr>
          <p:cNvPr id="24" name="Text 20"/>
          <p:cNvSpPr txBox="1"/>
          <p:nvPr/>
        </p:nvSpPr>
        <p:spPr>
          <a:xfrm>
            <a:off x="6839712" y="356616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Bảng labor_costs riêng</a:t>
            </a:r>
            <a:endParaRPr lang="en-US" sz="1200" dirty="0"/>
          </a:p>
        </p:txBody>
      </p:sp>
      <p:sp>
        <p:nvSpPr>
          <p:cNvPr id="25" name="Shape 21"/>
          <p:cNvSpPr/>
          <p:nvPr/>
        </p:nvSpPr>
        <p:spPr>
          <a:xfrm>
            <a:off x="6629400" y="4572000"/>
            <a:ext cx="73152" cy="73152"/>
          </a:xfrm>
          <a:prstGeom prst="ellipse">
            <a:avLst/>
          </a:prstGeom>
          <a:solidFill>
            <a:srgbClr val="7A8680"/>
          </a:solidFill>
          <a:ln/>
        </p:spPr>
      </p:sp>
      <p:sp>
        <p:nvSpPr>
          <p:cNvPr id="26" name="Text 22"/>
          <p:cNvSpPr txBox="1"/>
          <p:nvPr/>
        </p:nvSpPr>
        <p:spPr>
          <a:xfrm>
            <a:off x="6839712" y="443484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Bảng crop_performance lưu số liệu sẵn</a:t>
            </a:r>
            <a:endParaRPr lang="en-US" sz="1200" dirty="0"/>
          </a:p>
        </p:txBody>
      </p:sp>
      <p:sp>
        <p:nvSpPr>
          <p:cNvPr id="27" name="Shape 23"/>
          <p:cNvSpPr/>
          <p:nvPr/>
        </p:nvSpPr>
        <p:spPr>
          <a:xfrm>
            <a:off x="6629400" y="5440680"/>
            <a:ext cx="73152" cy="73152"/>
          </a:xfrm>
          <a:prstGeom prst="ellipse">
            <a:avLst/>
          </a:prstGeom>
          <a:solidFill>
            <a:srgbClr val="7A8680"/>
          </a:solidFill>
          <a:ln/>
        </p:spPr>
      </p:sp>
      <p:sp>
        <p:nvSpPr>
          <p:cNvPr id="28" name="Text 24"/>
          <p:cNvSpPr txBox="1"/>
          <p:nvPr/>
        </p:nvSpPr>
        <p:spPr>
          <a:xfrm>
            <a:off x="6839712" y="530352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Màn hình gọi thẳng REST fetch('/api/...'), bỏ qua /sync — sẽ trắng màn hình khi hết sóng ngoài đồng</a:t>
            </a:r>
            <a:endParaRPr lang="en-US" sz="1200" dirty="0"/>
          </a:p>
        </p:txBody>
      </p:sp>
      <p:sp>
        <p:nvSpPr>
          <p:cNvPr id="29" name="Text 25"/>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CHẤT LƯỢNG</a:t>
            </a:r>
            <a:endParaRPr lang="en-US" sz="1200" dirty="0"/>
          </a:p>
        </p:txBody>
      </p:sp>
      <p:sp>
        <p:nvSpPr>
          <p:cNvPr id="3" name="Text 1"/>
          <p:cNvSpPr txBox="1"/>
          <p:nvPr/>
        </p:nvSpPr>
        <p:spPr>
          <a:xfrm>
            <a:off x="640080" y="777240"/>
            <a:ext cx="10515600" cy="502920"/>
          </a:xfrm>
          <a:prstGeom prst="rect">
            <a:avLst/>
          </a:prstGeom>
          <a:noFill/>
          <a:ln/>
        </p:spPr>
        <p:txBody>
          <a:bodyPr wrap="square" lIns="0" tIns="0" rIns="0" bIns="0" rtlCol="0" anchor="ctr"/>
          <a:lstStyle/>
          <a:p>
            <a:pPr indent="0" marL="0">
              <a:buNone/>
            </a:pPr>
            <a:r>
              <a:rPr lang="en-US" sz="2700" b="1" dirty="0">
                <a:solidFill>
                  <a:srgbClr val="1C2B20"/>
                </a:solidFill>
                <a:latin typeface="Cambria" pitchFamily="34" charset="0"/>
                <a:ea typeface="Cambria" pitchFamily="34" charset="-122"/>
                <a:cs typeface="Cambria" pitchFamily="34" charset="-120"/>
              </a:rPr>
              <a:t>3 lỗi có sẵn được vá cùng đợt</a:t>
            </a:r>
            <a:endParaRPr lang="en-US" sz="2700" dirty="0"/>
          </a:p>
        </p:txBody>
      </p:sp>
      <p:sp>
        <p:nvSpPr>
          <p:cNvPr id="4" name="Text 2"/>
          <p:cNvSpPr txBox="1"/>
          <p:nvPr/>
        </p:nvSpPr>
        <p:spPr>
          <a:xfrm>
            <a:off x="640080" y="1280160"/>
            <a:ext cx="10515600" cy="365760"/>
          </a:xfrm>
          <a:prstGeom prst="rect">
            <a:avLst/>
          </a:prstGeom>
          <a:noFill/>
          <a:ln/>
        </p:spPr>
        <p:txBody>
          <a:bodyPr wrap="square" lIns="0" tIns="0" rIns="0" bIns="0" rtlCol="0" anchor="ctr"/>
          <a:lstStyle/>
          <a:p>
            <a:pPr indent="0" marL="0">
              <a:buNone/>
            </a:pPr>
            <a:r>
              <a:rPr lang="en-US" sz="1300" dirty="0">
                <a:solidFill>
                  <a:srgbClr val="5B6B60"/>
                </a:solidFill>
                <a:latin typeface="Calibri" pitchFamily="34" charset="0"/>
                <a:ea typeface="Calibri" pitchFamily="34" charset="-122"/>
                <a:cs typeface="Calibri" pitchFamily="34" charset="-120"/>
              </a:rPr>
              <a:t>Nằm ngay trên đường đi khi làm V2.1 — không phải lỗi mới phát sinh.</a:t>
            </a:r>
            <a:endParaRPr lang="en-US" sz="1300" dirty="0"/>
          </a:p>
        </p:txBody>
      </p:sp>
      <p:sp>
        <p:nvSpPr>
          <p:cNvPr id="5" name="Shape 3"/>
          <p:cNvSpPr/>
          <p:nvPr/>
        </p:nvSpPr>
        <p:spPr>
          <a:xfrm>
            <a:off x="640080" y="1965960"/>
            <a:ext cx="777240" cy="777240"/>
          </a:xfrm>
          <a:prstGeom prst="ellipse">
            <a:avLst/>
          </a:prstGeom>
          <a:solidFill>
            <a:srgbClr val="2E6F40"/>
          </a:solidFill>
          <a:ln/>
        </p:spPr>
      </p:sp>
      <p:pic>
        <p:nvPicPr>
          <p:cNvPr id="6" name="Image 0" descr="C:\Users\Maxsys\AppData\Local\Temp\claude\d--AgriXAI-Farmer\9d658242-07c0-4b4a-b8de-708653b0dceb\scratchpad\pptx\icons\lock.png">    </p:cNvPr>
          <p:cNvPicPr>
            <a:picLocks noChangeAspect="1"/>
          </p:cNvPicPr>
          <p:nvPr/>
        </p:nvPicPr>
        <p:blipFill>
          <a:blip r:embed="rId1"/>
          <a:stretch>
            <a:fillRect/>
          </a:stretch>
        </p:blipFill>
        <p:spPr>
          <a:xfrm>
            <a:off x="741121" y="2067001"/>
            <a:ext cx="575158" cy="575158"/>
          </a:xfrm>
          <a:prstGeom prst="rect">
            <a:avLst/>
          </a:prstGeom>
        </p:spPr>
      </p:pic>
      <p:sp>
        <p:nvSpPr>
          <p:cNvPr id="7" name="Text 4"/>
          <p:cNvSpPr txBox="1"/>
          <p:nvPr/>
        </p:nvSpPr>
        <p:spPr>
          <a:xfrm>
            <a:off x="1691640" y="1984248"/>
            <a:ext cx="9326880" cy="365760"/>
          </a:xfrm>
          <a:prstGeom prst="rect">
            <a:avLst/>
          </a:prstGeom>
          <a:noFill/>
          <a:ln/>
        </p:spPr>
        <p:txBody>
          <a:bodyPr wrap="square" lIns="0" tIns="0" rIns="0" bIns="0" rtlCol="0" anchor="ctr"/>
          <a:lstStyle/>
          <a:p>
            <a:pPr indent="0" marL="0">
              <a:buNone/>
            </a:pPr>
            <a:r>
              <a:rPr lang="en-US" sz="1500" b="1" dirty="0">
                <a:solidFill>
                  <a:srgbClr val="1C2B20"/>
                </a:solidFill>
                <a:latin typeface="Calibri" pitchFamily="34" charset="0"/>
                <a:ea typeface="Calibri" pitchFamily="34" charset="-122"/>
                <a:cs typeface="Calibri" pitchFamily="34" charset="-120"/>
              </a:rPr>
              <a:t>Quyền trên /sync</a:t>
            </a:r>
            <a:endParaRPr lang="en-US" sz="1500" dirty="0"/>
          </a:p>
        </p:txBody>
      </p:sp>
      <p:sp>
        <p:nvSpPr>
          <p:cNvPr id="8" name="Text 5"/>
          <p:cNvSpPr txBox="1"/>
          <p:nvPr/>
        </p:nvSpPr>
        <p:spPr>
          <a:xfrm>
            <a:off x="1691640" y="2350008"/>
            <a:ext cx="9326880" cy="640080"/>
          </a:xfrm>
          <a:prstGeom prst="rect">
            <a:avLst/>
          </a:prstGeom>
          <a:noFill/>
          <a:ln/>
        </p:spPr>
        <p:txBody>
          <a:bodyPr wrap="square" lIns="0" tIns="0" rIns="0" bIns="0" rtlCol="0" anchor="ctr"/>
          <a:lstStyle/>
          <a:p>
            <a:pPr indent="0" marL="0">
              <a:lnSpc>
                <a:spcPct val="125000"/>
              </a:lnSpc>
              <a:buNone/>
            </a:pPr>
            <a:r>
              <a:rPr lang="en-US" sz="1200" dirty="0">
                <a:solidFill>
                  <a:srgbClr val="5B6B60"/>
                </a:solidFill>
                <a:latin typeface="Calibri" pitchFamily="34" charset="0"/>
                <a:ea typeface="Calibri" pitchFamily="34" charset="-122"/>
                <a:cs typeface="Calibri" pitchFamily="34" charset="-120"/>
              </a:rPr>
              <a:t>Trước đây bất kỳ id nào điện thoại gửi lên đều được áp updated/deleted — một hộ có thể sửa/xoá bản ghi của hộ khác nếu đoán được id. Nay chỉ chủ bản ghi hoặc quản trị viên mới sửa/xoá được.</a:t>
            </a:r>
            <a:endParaRPr lang="en-US" sz="1200" dirty="0"/>
          </a:p>
        </p:txBody>
      </p:sp>
      <p:sp>
        <p:nvSpPr>
          <p:cNvPr id="9" name="Shape 6"/>
          <p:cNvSpPr/>
          <p:nvPr/>
        </p:nvSpPr>
        <p:spPr>
          <a:xfrm>
            <a:off x="640080" y="3429000"/>
            <a:ext cx="777240" cy="777240"/>
          </a:xfrm>
          <a:prstGeom prst="ellipse">
            <a:avLst/>
          </a:prstGeom>
          <a:solidFill>
            <a:srgbClr val="2E6F40"/>
          </a:solidFill>
          <a:ln/>
        </p:spPr>
      </p:sp>
      <p:pic>
        <p:nvPicPr>
          <p:cNvPr id="10" name="Image 1" descr="C:\Users\Maxsys\AppData\Local\Temp\claude\d--AgriXAI-Farmer\9d658242-07c0-4b4a-b8de-708653b0dceb\scratchpad\pptx\icons\cloud.png">    </p:cNvPr>
          <p:cNvPicPr>
            <a:picLocks noChangeAspect="1"/>
          </p:cNvPicPr>
          <p:nvPr/>
        </p:nvPicPr>
        <p:blipFill>
          <a:blip r:embed="rId2"/>
          <a:stretch>
            <a:fillRect/>
          </a:stretch>
        </p:blipFill>
        <p:spPr>
          <a:xfrm>
            <a:off x="741121" y="3530041"/>
            <a:ext cx="575158" cy="575158"/>
          </a:xfrm>
          <a:prstGeom prst="rect">
            <a:avLst/>
          </a:prstGeom>
        </p:spPr>
      </p:pic>
      <p:sp>
        <p:nvSpPr>
          <p:cNvPr id="11" name="Text 7"/>
          <p:cNvSpPr txBox="1"/>
          <p:nvPr/>
        </p:nvSpPr>
        <p:spPr>
          <a:xfrm>
            <a:off x="1691640" y="3447288"/>
            <a:ext cx="9326880" cy="365760"/>
          </a:xfrm>
          <a:prstGeom prst="rect">
            <a:avLst/>
          </a:prstGeom>
          <a:noFill/>
          <a:ln/>
        </p:spPr>
        <p:txBody>
          <a:bodyPr wrap="square" lIns="0" tIns="0" rIns="0" bIns="0" rtlCol="0" anchor="ctr"/>
          <a:lstStyle/>
          <a:p>
            <a:pPr indent="0" marL="0">
              <a:buNone/>
            </a:pPr>
            <a:r>
              <a:rPr lang="en-US" sz="1500" b="1" dirty="0">
                <a:solidFill>
                  <a:srgbClr val="1C2B20"/>
                </a:solidFill>
                <a:latin typeface="Calibri" pitchFamily="34" charset="0"/>
                <a:ea typeface="Calibri" pitchFamily="34" charset="-122"/>
                <a:cs typeface="Calibri" pitchFamily="34" charset="-120"/>
              </a:rPr>
              <a:t>Migration sync</a:t>
            </a:r>
            <a:endParaRPr lang="en-US" sz="1500" dirty="0"/>
          </a:p>
        </p:txBody>
      </p:sp>
      <p:sp>
        <p:nvSpPr>
          <p:cNvPr id="12" name="Text 8"/>
          <p:cNvSpPr txBox="1"/>
          <p:nvPr/>
        </p:nvSpPr>
        <p:spPr>
          <a:xfrm>
            <a:off x="1691640" y="3813048"/>
            <a:ext cx="9326880" cy="640080"/>
          </a:xfrm>
          <a:prstGeom prst="rect">
            <a:avLst/>
          </a:prstGeom>
          <a:noFill/>
          <a:ln/>
        </p:spPr>
        <p:txBody>
          <a:bodyPr wrap="square" lIns="0" tIns="0" rIns="0" bIns="0" rtlCol="0" anchor="ctr"/>
          <a:lstStyle/>
          <a:p>
            <a:pPr indent="0" marL="0">
              <a:lnSpc>
                <a:spcPct val="125000"/>
              </a:lnSpc>
              <a:buNone/>
            </a:pPr>
            <a:r>
              <a:rPr lang="en-US" sz="1200" dirty="0">
                <a:solidFill>
                  <a:srgbClr val="5B6B60"/>
                </a:solidFill>
                <a:latin typeface="Calibri" pitchFamily="34" charset="0"/>
                <a:ea typeface="Calibri" pitchFamily="34" charset="-122"/>
                <a:cs typeface="Calibri" pitchFamily="34" charset="-120"/>
              </a:rPr>
              <a:t>App bản cũ (schema v6) kéo các vụ mới về mà không có cột chứa dữ liệu mới nên cột đó rỗng vĩnh viễn. Đã thêm cơ chế migration khi đồng bộ — máy chủ phải lên trước app.</a:t>
            </a:r>
            <a:endParaRPr lang="en-US" sz="1200" dirty="0"/>
          </a:p>
        </p:txBody>
      </p:sp>
      <p:sp>
        <p:nvSpPr>
          <p:cNvPr id="13" name="Shape 9"/>
          <p:cNvSpPr/>
          <p:nvPr/>
        </p:nvSpPr>
        <p:spPr>
          <a:xfrm>
            <a:off x="640080" y="4892040"/>
            <a:ext cx="777240" cy="777240"/>
          </a:xfrm>
          <a:prstGeom prst="ellipse">
            <a:avLst/>
          </a:prstGeom>
          <a:solidFill>
            <a:srgbClr val="2E6F40"/>
          </a:solidFill>
          <a:ln/>
        </p:spPr>
      </p:sp>
      <p:pic>
        <p:nvPicPr>
          <p:cNvPr id="14" name="Image 2" descr="C:\Users\Maxsys\AppData\Local\Temp\claude\d--AgriXAI-Farmer\9d658242-07c0-4b4a-b8de-708653b0dceb\scratchpad\pptx\icons\balance.png">    </p:cNvPr>
          <p:cNvPicPr>
            <a:picLocks noChangeAspect="1"/>
          </p:cNvPicPr>
          <p:nvPr/>
        </p:nvPicPr>
        <p:blipFill>
          <a:blip r:embed="rId3"/>
          <a:stretch>
            <a:fillRect/>
          </a:stretch>
        </p:blipFill>
        <p:spPr>
          <a:xfrm>
            <a:off x="741121" y="4993081"/>
            <a:ext cx="575158" cy="575158"/>
          </a:xfrm>
          <a:prstGeom prst="rect">
            <a:avLst/>
          </a:prstGeom>
        </p:spPr>
      </p:pic>
      <p:sp>
        <p:nvSpPr>
          <p:cNvPr id="15" name="Text 10"/>
          <p:cNvSpPr txBox="1"/>
          <p:nvPr/>
        </p:nvSpPr>
        <p:spPr>
          <a:xfrm>
            <a:off x="1691640" y="4910328"/>
            <a:ext cx="9326880" cy="365760"/>
          </a:xfrm>
          <a:prstGeom prst="rect">
            <a:avLst/>
          </a:prstGeom>
          <a:noFill/>
          <a:ln/>
        </p:spPr>
        <p:txBody>
          <a:bodyPr wrap="square" lIns="0" tIns="0" rIns="0" bIns="0" rtlCol="0" anchor="ctr"/>
          <a:lstStyle/>
          <a:p>
            <a:pPr indent="0" marL="0">
              <a:buNone/>
            </a:pPr>
            <a:r>
              <a:rPr lang="en-US" sz="1500" b="1" dirty="0">
                <a:solidFill>
                  <a:srgbClr val="1C2B20"/>
                </a:solidFill>
                <a:latin typeface="Calibri" pitchFamily="34" charset="0"/>
                <a:ea typeface="Calibri" pitchFamily="34" charset="-122"/>
                <a:cs typeface="Calibri" pitchFamily="34" charset="-120"/>
              </a:rPr>
              <a:t>Làm tròn Python vs JavaScript</a:t>
            </a:r>
            <a:endParaRPr lang="en-US" sz="1500" dirty="0"/>
          </a:p>
        </p:txBody>
      </p:sp>
      <p:sp>
        <p:nvSpPr>
          <p:cNvPr id="16" name="Text 11"/>
          <p:cNvSpPr txBox="1"/>
          <p:nvPr/>
        </p:nvSpPr>
        <p:spPr>
          <a:xfrm>
            <a:off x="1691640" y="5276088"/>
            <a:ext cx="9326880" cy="640080"/>
          </a:xfrm>
          <a:prstGeom prst="rect">
            <a:avLst/>
          </a:prstGeom>
          <a:noFill/>
          <a:ln/>
        </p:spPr>
        <p:txBody>
          <a:bodyPr wrap="square" lIns="0" tIns="0" rIns="0" bIns="0" rtlCol="0" anchor="ctr"/>
          <a:lstStyle/>
          <a:p>
            <a:pPr indent="0" marL="0">
              <a:lnSpc>
                <a:spcPct val="125000"/>
              </a:lnSpc>
              <a:buNone/>
            </a:pPr>
            <a:r>
              <a:rPr lang="en-US" sz="1200" dirty="0">
                <a:solidFill>
                  <a:srgbClr val="5B6B60"/>
                </a:solidFill>
                <a:latin typeface="Calibri" pitchFamily="34" charset="0"/>
                <a:ea typeface="Calibri" pitchFamily="34" charset="-122"/>
                <a:cs typeface="Calibri" pitchFamily="34" charset="-120"/>
              </a:rPr>
              <a:t>round() của Python làm tròn về số chẵn, Math.round của JS làm tròn lên — tiền công/năng suất tính độc lập ở hai phía ra hai số khác nhau. Thống nhất luật nửa lên, có test cho cả hai.</a:t>
            </a:r>
            <a:endParaRPr lang="en-US" sz="1200" dirty="0"/>
          </a:p>
        </p:txBody>
      </p:sp>
      <p:sp>
        <p:nvSpPr>
          <p:cNvPr id="17" name="Text 12"/>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KIỂM THỬ</a:t>
            </a:r>
            <a:endParaRPr lang="en-US" sz="1200" dirty="0"/>
          </a:p>
        </p:txBody>
      </p:sp>
      <p:sp>
        <p:nvSpPr>
          <p:cNvPr id="3" name="Text 1"/>
          <p:cNvSpPr txBox="1"/>
          <p:nvPr/>
        </p:nvSpPr>
        <p:spPr>
          <a:xfrm>
            <a:off x="640080" y="777240"/>
            <a:ext cx="10515600" cy="502920"/>
          </a:xfrm>
          <a:prstGeom prst="rect">
            <a:avLst/>
          </a:prstGeom>
          <a:noFill/>
          <a:ln/>
        </p:spPr>
        <p:txBody>
          <a:bodyPr wrap="square" lIns="0" tIns="0" rIns="0" bIns="0" rtlCol="0" anchor="ctr"/>
          <a:lstStyle/>
          <a:p>
            <a:pPr indent="0" marL="0">
              <a:buNone/>
            </a:pPr>
            <a:r>
              <a:rPr lang="en-US" sz="2700" b="1" dirty="0">
                <a:solidFill>
                  <a:srgbClr val="1C2B20"/>
                </a:solidFill>
                <a:latin typeface="Cambria" pitchFamily="34" charset="0"/>
                <a:ea typeface="Cambria" pitchFamily="34" charset="-122"/>
                <a:cs typeface="Cambria" pitchFamily="34" charset="-120"/>
              </a:rPr>
              <a:t>Kiểm thử &amp; chất lượng</a:t>
            </a:r>
            <a:endParaRPr lang="en-US" sz="2700" dirty="0"/>
          </a:p>
        </p:txBody>
      </p:sp>
      <p:sp>
        <p:nvSpPr>
          <p:cNvPr id="4" name="Shape 2"/>
          <p:cNvSpPr/>
          <p:nvPr/>
        </p:nvSpPr>
        <p:spPr>
          <a:xfrm>
            <a:off x="640080" y="1600200"/>
            <a:ext cx="5074920" cy="1965960"/>
          </a:xfrm>
          <a:prstGeom prst="roundRect">
            <a:avLst>
              <a:gd name="adj" fmla="val 5581"/>
            </a:avLst>
          </a:prstGeom>
          <a:solidFill>
            <a:srgbClr val="EAF3EC"/>
          </a:solidFill>
          <a:ln/>
        </p:spPr>
      </p:sp>
      <p:sp>
        <p:nvSpPr>
          <p:cNvPr id="5" name="Text 3"/>
          <p:cNvSpPr txBox="1"/>
          <p:nvPr/>
        </p:nvSpPr>
        <p:spPr>
          <a:xfrm>
            <a:off x="914400" y="1783080"/>
            <a:ext cx="4526280" cy="685800"/>
          </a:xfrm>
          <a:prstGeom prst="rect">
            <a:avLst/>
          </a:prstGeom>
          <a:noFill/>
          <a:ln/>
        </p:spPr>
        <p:txBody>
          <a:bodyPr wrap="square" lIns="0" tIns="0" rIns="0" bIns="0" rtlCol="0" anchor="ctr"/>
          <a:lstStyle/>
          <a:p>
            <a:pPr indent="0" marL="0">
              <a:buNone/>
            </a:pPr>
            <a:r>
              <a:rPr lang="en-US" sz="3400" b="1" dirty="0">
                <a:solidFill>
                  <a:srgbClr val="2E6F40"/>
                </a:solidFill>
                <a:latin typeface="Cambria" pitchFamily="34" charset="0"/>
                <a:ea typeface="Cambria" pitchFamily="34" charset="-122"/>
                <a:cs typeface="Cambria" pitchFamily="34" charset="-120"/>
              </a:rPr>
              <a:t>235</a:t>
            </a:r>
            <a:endParaRPr lang="en-US" sz="3400" dirty="0"/>
          </a:p>
        </p:txBody>
      </p:sp>
      <p:sp>
        <p:nvSpPr>
          <p:cNvPr id="6" name="Text 4"/>
          <p:cNvSpPr txBox="1"/>
          <p:nvPr/>
        </p:nvSpPr>
        <p:spPr>
          <a:xfrm>
            <a:off x="914400" y="2496312"/>
            <a:ext cx="4526280" cy="320040"/>
          </a:xfrm>
          <a:prstGeom prst="rect">
            <a:avLst/>
          </a:prstGeom>
          <a:noFill/>
          <a:ln/>
        </p:spPr>
        <p:txBody>
          <a:bodyPr wrap="square" lIns="0" tIns="0" rIns="0" bIns="0" rtlCol="0" anchor="ctr"/>
          <a:lstStyle/>
          <a:p>
            <a:pPr indent="0" marL="0">
              <a:buNone/>
            </a:pPr>
            <a:r>
              <a:rPr lang="en-US" sz="1300" b="1" dirty="0">
                <a:solidFill>
                  <a:srgbClr val="1C2B20"/>
                </a:solidFill>
                <a:latin typeface="Calibri" pitchFamily="34" charset="0"/>
                <a:ea typeface="Calibri" pitchFamily="34" charset="-122"/>
                <a:cs typeface="Calibri" pitchFamily="34" charset="-120"/>
              </a:rPr>
              <a:t>Test backend</a:t>
            </a:r>
            <a:endParaRPr lang="en-US" sz="1300" dirty="0"/>
          </a:p>
        </p:txBody>
      </p:sp>
      <p:sp>
        <p:nvSpPr>
          <p:cNvPr id="7" name="Text 5"/>
          <p:cNvSpPr txBox="1"/>
          <p:nvPr/>
        </p:nvSpPr>
        <p:spPr>
          <a:xfrm>
            <a:off x="914400" y="2807208"/>
            <a:ext cx="4526280" cy="640080"/>
          </a:xfrm>
          <a:prstGeom prst="rect">
            <a:avLst/>
          </a:prstGeom>
          <a:noFill/>
          <a:ln/>
        </p:spPr>
        <p:txBody>
          <a:bodyPr wrap="square" lIns="0" tIns="0" rIns="0" bIns="0" rtlCol="0" anchor="ctr"/>
          <a:lstStyle/>
          <a:p>
            <a:pPr indent="0" marL="0">
              <a:lnSpc>
                <a:spcPct val="120000"/>
              </a:lnSpc>
              <a:buNone/>
            </a:pPr>
            <a:r>
              <a:rPr lang="en-US" sz="1100" dirty="0">
                <a:solidFill>
                  <a:srgbClr val="5B6B60"/>
                </a:solidFill>
                <a:latin typeface="Calibri" pitchFamily="34" charset="0"/>
                <a:ea typeface="Calibri" pitchFamily="34" charset="-122"/>
                <a:cs typeface="Calibri" pitchFamily="34" charset="-120"/>
              </a:rPr>
              <a:t>SQLite + PostgreSQL 16 — cùng bộ test chạy trên cả hai</a:t>
            </a:r>
            <a:endParaRPr lang="en-US" sz="1100" dirty="0"/>
          </a:p>
        </p:txBody>
      </p:sp>
      <p:sp>
        <p:nvSpPr>
          <p:cNvPr id="8" name="Shape 6"/>
          <p:cNvSpPr/>
          <p:nvPr/>
        </p:nvSpPr>
        <p:spPr>
          <a:xfrm>
            <a:off x="6080760" y="1600200"/>
            <a:ext cx="5074920" cy="1965960"/>
          </a:xfrm>
          <a:prstGeom prst="roundRect">
            <a:avLst>
              <a:gd name="adj" fmla="val 5581"/>
            </a:avLst>
          </a:prstGeom>
          <a:solidFill>
            <a:srgbClr val="EAF3EC"/>
          </a:solidFill>
          <a:ln/>
        </p:spPr>
      </p:sp>
      <p:sp>
        <p:nvSpPr>
          <p:cNvPr id="9" name="Text 7"/>
          <p:cNvSpPr txBox="1"/>
          <p:nvPr/>
        </p:nvSpPr>
        <p:spPr>
          <a:xfrm>
            <a:off x="6355080" y="1783080"/>
            <a:ext cx="4526280" cy="685800"/>
          </a:xfrm>
          <a:prstGeom prst="rect">
            <a:avLst/>
          </a:prstGeom>
          <a:noFill/>
          <a:ln/>
        </p:spPr>
        <p:txBody>
          <a:bodyPr wrap="square" lIns="0" tIns="0" rIns="0" bIns="0" rtlCol="0" anchor="ctr"/>
          <a:lstStyle/>
          <a:p>
            <a:pPr indent="0" marL="0">
              <a:buNone/>
            </a:pPr>
            <a:r>
              <a:rPr lang="en-US" sz="3400" b="1" dirty="0">
                <a:solidFill>
                  <a:srgbClr val="2E6F40"/>
                </a:solidFill>
                <a:latin typeface="Cambria" pitchFamily="34" charset="0"/>
                <a:ea typeface="Cambria" pitchFamily="34" charset="-122"/>
                <a:cs typeface="Cambria" pitchFamily="34" charset="-120"/>
              </a:rPr>
              <a:t>236</a:t>
            </a:r>
            <a:endParaRPr lang="en-US" sz="3400" dirty="0"/>
          </a:p>
        </p:txBody>
      </p:sp>
      <p:sp>
        <p:nvSpPr>
          <p:cNvPr id="10" name="Text 8"/>
          <p:cNvSpPr txBox="1"/>
          <p:nvPr/>
        </p:nvSpPr>
        <p:spPr>
          <a:xfrm>
            <a:off x="6355080" y="2496312"/>
            <a:ext cx="4526280" cy="320040"/>
          </a:xfrm>
          <a:prstGeom prst="rect">
            <a:avLst/>
          </a:prstGeom>
          <a:noFill/>
          <a:ln/>
        </p:spPr>
        <p:txBody>
          <a:bodyPr wrap="square" lIns="0" tIns="0" rIns="0" bIns="0" rtlCol="0" anchor="ctr"/>
          <a:lstStyle/>
          <a:p>
            <a:pPr indent="0" marL="0">
              <a:buNone/>
            </a:pPr>
            <a:r>
              <a:rPr lang="en-US" sz="1300" b="1" dirty="0">
                <a:solidFill>
                  <a:srgbClr val="1C2B20"/>
                </a:solidFill>
                <a:latin typeface="Calibri" pitchFamily="34" charset="0"/>
                <a:ea typeface="Calibri" pitchFamily="34" charset="-122"/>
                <a:cs typeface="Calibri" pitchFamily="34" charset="-120"/>
              </a:rPr>
              <a:t>Test mobile</a:t>
            </a:r>
            <a:endParaRPr lang="en-US" sz="1300" dirty="0"/>
          </a:p>
        </p:txBody>
      </p:sp>
      <p:sp>
        <p:nvSpPr>
          <p:cNvPr id="11" name="Text 9"/>
          <p:cNvSpPr txBox="1"/>
          <p:nvPr/>
        </p:nvSpPr>
        <p:spPr>
          <a:xfrm>
            <a:off x="6355080" y="2807208"/>
            <a:ext cx="4526280" cy="640080"/>
          </a:xfrm>
          <a:prstGeom prst="rect">
            <a:avLst/>
          </a:prstGeom>
          <a:noFill/>
          <a:ln/>
        </p:spPr>
        <p:txBody>
          <a:bodyPr wrap="square" lIns="0" tIns="0" rIns="0" bIns="0" rtlCol="0" anchor="ctr"/>
          <a:lstStyle/>
          <a:p>
            <a:pPr indent="0" marL="0">
              <a:lnSpc>
                <a:spcPct val="120000"/>
              </a:lnSpc>
              <a:buNone/>
            </a:pPr>
            <a:r>
              <a:rPr lang="en-US" sz="1100" dirty="0">
                <a:solidFill>
                  <a:srgbClr val="5B6B60"/>
                </a:solidFill>
                <a:latin typeface="Calibri" pitchFamily="34" charset="0"/>
                <a:ea typeface="Calibri" pitchFamily="34" charset="-122"/>
                <a:cs typeface="Calibri" pitchFamily="34" charset="-120"/>
              </a:rPr>
              <a:t>24 bộ, phủ 94% dòng · tsc --noEmit và eslint sạch</a:t>
            </a:r>
            <a:endParaRPr lang="en-US" sz="1100" dirty="0"/>
          </a:p>
        </p:txBody>
      </p:sp>
      <p:sp>
        <p:nvSpPr>
          <p:cNvPr id="12" name="Shape 10"/>
          <p:cNvSpPr/>
          <p:nvPr/>
        </p:nvSpPr>
        <p:spPr>
          <a:xfrm>
            <a:off x="640080" y="3931920"/>
            <a:ext cx="5074920" cy="1965960"/>
          </a:xfrm>
          <a:prstGeom prst="roundRect">
            <a:avLst>
              <a:gd name="adj" fmla="val 5581"/>
            </a:avLst>
          </a:prstGeom>
          <a:solidFill>
            <a:srgbClr val="1F4D2E"/>
          </a:solidFill>
          <a:ln/>
        </p:spPr>
      </p:sp>
      <p:sp>
        <p:nvSpPr>
          <p:cNvPr id="13" name="Text 11"/>
          <p:cNvSpPr txBox="1"/>
          <p:nvPr/>
        </p:nvSpPr>
        <p:spPr>
          <a:xfrm>
            <a:off x="914400" y="4114800"/>
            <a:ext cx="4526280" cy="685800"/>
          </a:xfrm>
          <a:prstGeom prst="rect">
            <a:avLst/>
          </a:prstGeom>
          <a:noFill/>
          <a:ln/>
        </p:spPr>
        <p:txBody>
          <a:bodyPr wrap="square" lIns="0" tIns="0" rIns="0" bIns="0" rtlCol="0" anchor="ctr"/>
          <a:lstStyle/>
          <a:p>
            <a:pPr indent="0" marL="0">
              <a:buNone/>
            </a:pPr>
            <a:r>
              <a:rPr lang="en-US" sz="3400" b="1" dirty="0">
                <a:solidFill>
                  <a:srgbClr val="D9A441"/>
                </a:solidFill>
                <a:latin typeface="Cambria" pitchFamily="34" charset="0"/>
                <a:ea typeface="Cambria" pitchFamily="34" charset="-122"/>
                <a:cs typeface="Cambria" pitchFamily="34" charset="-120"/>
              </a:rPr>
              <a:t>Emulator</a:t>
            </a:r>
            <a:endParaRPr lang="en-US" sz="3400" dirty="0"/>
          </a:p>
        </p:txBody>
      </p:sp>
      <p:sp>
        <p:nvSpPr>
          <p:cNvPr id="14" name="Text 12"/>
          <p:cNvSpPr txBox="1"/>
          <p:nvPr/>
        </p:nvSpPr>
        <p:spPr>
          <a:xfrm>
            <a:off x="914400" y="48280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Pixel 6a — Android 13</a:t>
            </a:r>
            <a:endParaRPr lang="en-US" sz="1300" dirty="0"/>
          </a:p>
        </p:txBody>
      </p:sp>
      <p:sp>
        <p:nvSpPr>
          <p:cNvPr id="15" name="Text 13"/>
          <p:cNvSpPr txBox="1"/>
          <p:nvPr/>
        </p:nvSpPr>
        <p:spPr>
          <a:xfrm>
            <a:off x="914400" y="5138928"/>
            <a:ext cx="4526280" cy="640080"/>
          </a:xfrm>
          <a:prstGeom prst="rect">
            <a:avLst/>
          </a:prstGeom>
          <a:noFill/>
          <a:ln/>
        </p:spPr>
        <p:txBody>
          <a:bodyPr wrap="square" lIns="0" tIns="0" rIns="0" bIns="0" rtlCol="0" anchor="ctr"/>
          <a:lstStyle/>
          <a:p>
            <a:pPr indent="0" marL="0">
              <a:lnSpc>
                <a:spcPct val="120000"/>
              </a:lnSpc>
              <a:buNone/>
            </a:pPr>
            <a:r>
              <a:rPr lang="en-US" sz="1100" dirty="0">
                <a:solidFill>
                  <a:srgbClr val="BFD9C8"/>
                </a:solidFill>
                <a:latin typeface="Calibri" pitchFamily="34" charset="0"/>
                <a:ea typeface="Calibri" pitchFamily="34" charset="-122"/>
                <a:cs typeface="Calibri" pitchFamily="34" charset="-120"/>
              </a:rPr>
              <a:t>KHÔNG PHẢI thiết bị vật lý — chưa thử trên máy thật</a:t>
            </a:r>
            <a:endParaRPr lang="en-US" sz="1100" dirty="0"/>
          </a:p>
        </p:txBody>
      </p:sp>
      <p:sp>
        <p:nvSpPr>
          <p:cNvPr id="16" name="Shape 14"/>
          <p:cNvSpPr/>
          <p:nvPr/>
        </p:nvSpPr>
        <p:spPr>
          <a:xfrm>
            <a:off x="6080760" y="3931920"/>
            <a:ext cx="5074920" cy="1965960"/>
          </a:xfrm>
          <a:prstGeom prst="roundRect">
            <a:avLst>
              <a:gd name="adj" fmla="val 5581"/>
            </a:avLst>
          </a:prstGeom>
          <a:solidFill>
            <a:srgbClr val="EAF3EC"/>
          </a:solidFill>
          <a:ln/>
        </p:spPr>
      </p:sp>
      <p:sp>
        <p:nvSpPr>
          <p:cNvPr id="17" name="Text 15"/>
          <p:cNvSpPr txBox="1"/>
          <p:nvPr/>
        </p:nvSpPr>
        <p:spPr>
          <a:xfrm>
            <a:off x="6355080" y="4114800"/>
            <a:ext cx="4526280" cy="685800"/>
          </a:xfrm>
          <a:prstGeom prst="rect">
            <a:avLst/>
          </a:prstGeom>
          <a:noFill/>
          <a:ln/>
        </p:spPr>
        <p:txBody>
          <a:bodyPr wrap="square" lIns="0" tIns="0" rIns="0" bIns="0" rtlCol="0" anchor="ctr"/>
          <a:lstStyle/>
          <a:p>
            <a:pPr indent="0" marL="0">
              <a:buNone/>
            </a:pPr>
            <a:r>
              <a:rPr lang="en-US" sz="3400" b="1" dirty="0">
                <a:solidFill>
                  <a:srgbClr val="2E6F40"/>
                </a:solidFill>
                <a:latin typeface="Cambria" pitchFamily="34" charset="0"/>
                <a:ea typeface="Cambria" pitchFamily="34" charset="-122"/>
                <a:cs typeface="Cambria" pitchFamily="34" charset="-120"/>
              </a:rPr>
              <a:t>Sạch</a:t>
            </a:r>
            <a:endParaRPr lang="en-US" sz="3400" dirty="0"/>
          </a:p>
        </p:txBody>
      </p:sp>
      <p:sp>
        <p:nvSpPr>
          <p:cNvPr id="18" name="Text 16"/>
          <p:cNvSpPr txBox="1"/>
          <p:nvPr/>
        </p:nvSpPr>
        <p:spPr>
          <a:xfrm>
            <a:off x="6355080" y="4828032"/>
            <a:ext cx="4526280" cy="320040"/>
          </a:xfrm>
          <a:prstGeom prst="rect">
            <a:avLst/>
          </a:prstGeom>
          <a:noFill/>
          <a:ln/>
        </p:spPr>
        <p:txBody>
          <a:bodyPr wrap="square" lIns="0" tIns="0" rIns="0" bIns="0" rtlCol="0" anchor="ctr"/>
          <a:lstStyle/>
          <a:p>
            <a:pPr indent="0" marL="0">
              <a:buNone/>
            </a:pPr>
            <a:r>
              <a:rPr lang="en-US" sz="1300" b="1" dirty="0">
                <a:solidFill>
                  <a:srgbClr val="1C2B20"/>
                </a:solidFill>
                <a:latin typeface="Calibri" pitchFamily="34" charset="0"/>
                <a:ea typeface="Calibri" pitchFamily="34" charset="-122"/>
                <a:cs typeface="Calibri" pitchFamily="34" charset="-120"/>
              </a:rPr>
              <a:t>Web-admin build</a:t>
            </a:r>
            <a:endParaRPr lang="en-US" sz="1300" dirty="0"/>
          </a:p>
        </p:txBody>
      </p:sp>
      <p:sp>
        <p:nvSpPr>
          <p:cNvPr id="19" name="Text 17"/>
          <p:cNvSpPr txBox="1"/>
          <p:nvPr/>
        </p:nvSpPr>
        <p:spPr>
          <a:xfrm>
            <a:off x="6355080" y="5138928"/>
            <a:ext cx="4526280" cy="640080"/>
          </a:xfrm>
          <a:prstGeom prst="rect">
            <a:avLst/>
          </a:prstGeom>
          <a:noFill/>
          <a:ln/>
        </p:spPr>
        <p:txBody>
          <a:bodyPr wrap="square" lIns="0" tIns="0" rIns="0" bIns="0" rtlCol="0" anchor="ctr"/>
          <a:lstStyle/>
          <a:p>
            <a:pPr indent="0" marL="0">
              <a:lnSpc>
                <a:spcPct val="120000"/>
              </a:lnSpc>
              <a:buNone/>
            </a:pPr>
            <a:r>
              <a:rPr lang="en-US" sz="1100" dirty="0">
                <a:solidFill>
                  <a:srgbClr val="5B6B60"/>
                </a:solidFill>
                <a:latin typeface="Calibri" pitchFamily="34" charset="0"/>
                <a:ea typeface="Calibri" pitchFamily="34" charset="-122"/>
                <a:cs typeface="Calibri" pitchFamily="34" charset="-120"/>
              </a:rPr>
              <a:t>Next.js 16 App Router, build không lỗi</a:t>
            </a:r>
            <a:endParaRPr lang="en-US" sz="1100" dirty="0"/>
          </a:p>
        </p:txBody>
      </p:sp>
      <p:sp>
        <p:nvSpPr>
          <p:cNvPr id="20" name="Text 18"/>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TRIỂN KHAI</a:t>
            </a:r>
            <a:endParaRPr lang="en-US" sz="1200" dirty="0"/>
          </a:p>
        </p:txBody>
      </p:sp>
      <p:sp>
        <p:nvSpPr>
          <p:cNvPr id="3" name="Text 1"/>
          <p:cNvSpPr txBox="1"/>
          <p:nvPr/>
        </p:nvSpPr>
        <p:spPr>
          <a:xfrm>
            <a:off x="640080" y="777240"/>
            <a:ext cx="10515600" cy="502920"/>
          </a:xfrm>
          <a:prstGeom prst="rect">
            <a:avLst/>
          </a:prstGeom>
          <a:noFill/>
          <a:ln/>
        </p:spPr>
        <p:txBody>
          <a:bodyPr wrap="square" lIns="0" tIns="0" rIns="0" bIns="0" rtlCol="0" anchor="ctr"/>
          <a:lstStyle/>
          <a:p>
            <a:pPr indent="0" marL="0">
              <a:buNone/>
            </a:pPr>
            <a:r>
              <a:rPr lang="en-US" sz="2700" b="1" dirty="0">
                <a:solidFill>
                  <a:srgbClr val="1C2B20"/>
                </a:solidFill>
                <a:latin typeface="Cambria" pitchFamily="34" charset="0"/>
                <a:ea typeface="Cambria" pitchFamily="34" charset="-122"/>
                <a:cs typeface="Cambria" pitchFamily="34" charset="-120"/>
              </a:rPr>
              <a:t>Máy chủ trước, app sau</a:t>
            </a:r>
            <a:endParaRPr lang="en-US" sz="2700" dirty="0"/>
          </a:p>
        </p:txBody>
      </p:sp>
      <p:sp>
        <p:nvSpPr>
          <p:cNvPr id="4" name="Shape 2"/>
          <p:cNvSpPr/>
          <p:nvPr/>
        </p:nvSpPr>
        <p:spPr>
          <a:xfrm>
            <a:off x="640080" y="1828800"/>
            <a:ext cx="640080" cy="640080"/>
          </a:xfrm>
          <a:prstGeom prst="ellipse">
            <a:avLst/>
          </a:prstGeom>
          <a:solidFill>
            <a:srgbClr val="2E6F40"/>
          </a:solidFill>
          <a:ln/>
        </p:spPr>
      </p:sp>
      <p:pic>
        <p:nvPicPr>
          <p:cNvPr id="5" name="Image 0" descr="C:\Users\Maxsys\AppData\Local\Temp\claude\d--AgriXAI-Farmer\9d658242-07c0-4b4a-b8de-708653b0dceb\scratchpad\pptx\icons\server.png">    </p:cNvPr>
          <p:cNvPicPr>
            <a:picLocks noChangeAspect="1"/>
          </p:cNvPicPr>
          <p:nvPr/>
        </p:nvPicPr>
        <p:blipFill>
          <a:blip r:embed="rId1"/>
          <a:stretch>
            <a:fillRect/>
          </a:stretch>
        </p:blipFill>
        <p:spPr>
          <a:xfrm>
            <a:off x="723290" y="1912010"/>
            <a:ext cx="473659" cy="473659"/>
          </a:xfrm>
          <a:prstGeom prst="rect">
            <a:avLst/>
          </a:prstGeom>
        </p:spPr>
      </p:pic>
      <p:sp>
        <p:nvSpPr>
          <p:cNvPr id="6" name="Text 3"/>
          <p:cNvSpPr txBox="1"/>
          <p:nvPr/>
        </p:nvSpPr>
        <p:spPr>
          <a:xfrm>
            <a:off x="1078992" y="1691640"/>
            <a:ext cx="365760" cy="365760"/>
          </a:xfrm>
          <a:prstGeom prst="rect">
            <a:avLst/>
          </a:prstGeom>
          <a:noFill/>
          <a:ln/>
        </p:spPr>
        <p:txBody>
          <a:bodyPr wrap="square" lIns="0" tIns="0" rIns="0" bIns="0" rtlCol="0" anchor="ctr"/>
          <a:lstStyle/>
          <a:p>
            <a:pPr indent="0" marL="0">
              <a:buNone/>
            </a:pPr>
            <a:r>
              <a:rPr lang="en-US" sz="1300" b="1" dirty="0">
                <a:solidFill>
                  <a:srgbClr val="B9822A"/>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640080" y="2606040"/>
            <a:ext cx="2331720" cy="457200"/>
          </a:xfrm>
          <a:prstGeom prst="rect">
            <a:avLst/>
          </a:prstGeom>
          <a:noFill/>
          <a:ln/>
        </p:spPr>
        <p:txBody>
          <a:bodyPr wrap="square" lIns="0" tIns="0" rIns="0" bIns="0" rtlCol="0" anchor="ctr"/>
          <a:lstStyle/>
          <a:p>
            <a:pPr indent="0" marL="0">
              <a:buNone/>
            </a:pPr>
            <a:r>
              <a:rPr lang="en-US" sz="1400" b="1" dirty="0">
                <a:solidFill>
                  <a:srgbClr val="1C2B20"/>
                </a:solidFill>
                <a:latin typeface="Calibri" pitchFamily="34" charset="0"/>
                <a:ea typeface="Calibri" pitchFamily="34" charset="-122"/>
                <a:cs typeface="Calibri" pitchFamily="34" charset="-120"/>
              </a:rPr>
              <a:t>Sao lưu</a:t>
            </a:r>
            <a:endParaRPr lang="en-US" sz="1400" dirty="0"/>
          </a:p>
        </p:txBody>
      </p:sp>
      <p:sp>
        <p:nvSpPr>
          <p:cNvPr id="8" name="Text 5"/>
          <p:cNvSpPr txBox="1"/>
          <p:nvPr/>
        </p:nvSpPr>
        <p:spPr>
          <a:xfrm>
            <a:off x="640080" y="3035808"/>
            <a:ext cx="2331720" cy="1737360"/>
          </a:xfrm>
          <a:prstGeom prst="rect">
            <a:avLst/>
          </a:prstGeom>
          <a:noFill/>
          <a:ln/>
        </p:spPr>
        <p:txBody>
          <a:bodyPr wrap="square" lIns="0" tIns="0" rIns="0" bIns="0" rtlCol="0" anchor="ctr"/>
          <a:lstStyle/>
          <a:p>
            <a:pPr indent="0" marL="0">
              <a:lnSpc>
                <a:spcPct val="122000"/>
              </a:lnSpc>
              <a:buNone/>
            </a:pPr>
            <a:r>
              <a:rPr lang="en-US" sz="1100" dirty="0">
                <a:solidFill>
                  <a:srgbClr val="5B6B60"/>
                </a:solidFill>
                <a:latin typeface="Calibri" pitchFamily="34" charset="0"/>
                <a:ea typeface="Calibri" pitchFamily="34" charset="-122"/>
                <a:cs typeface="Calibri" pitchFamily="34" charset="-120"/>
              </a:rPr>
              <a:t>CSDL (pg_dump) VÀ thư mục MEDIA_DIR — thiếu thư mục thì ghi chú còn, ảnh mất</a:t>
            </a:r>
            <a:endParaRPr lang="en-US" sz="1100" dirty="0"/>
          </a:p>
        </p:txBody>
      </p:sp>
      <p:pic>
        <p:nvPicPr>
          <p:cNvPr id="9" name="Image 1" descr="C:\Users\Maxsys\AppData\Local\Temp\claude\d--AgriXAI-Farmer\9d658242-07c0-4b4a-b8de-708653b0dceb\scratchpad\pptx\icons\arrow.png">    </p:cNvPr>
          <p:cNvPicPr>
            <a:picLocks noChangeAspect="1"/>
          </p:cNvPicPr>
          <p:nvPr/>
        </p:nvPicPr>
        <p:blipFill>
          <a:blip r:embed="rId2">
            <a:alphaModFix amt="40000"/>
          </a:blip>
          <a:stretch>
            <a:fillRect/>
          </a:stretch>
        </p:blipFill>
        <p:spPr>
          <a:xfrm>
            <a:off x="3117037" y="2011680"/>
            <a:ext cx="237744" cy="237744"/>
          </a:xfrm>
          <a:prstGeom prst="rect">
            <a:avLst/>
          </a:prstGeom>
        </p:spPr>
      </p:pic>
      <p:sp>
        <p:nvSpPr>
          <p:cNvPr id="10" name="Shape 6"/>
          <p:cNvSpPr/>
          <p:nvPr/>
        </p:nvSpPr>
        <p:spPr>
          <a:xfrm>
            <a:off x="3500018" y="1828800"/>
            <a:ext cx="640080" cy="640080"/>
          </a:xfrm>
          <a:prstGeom prst="ellipse">
            <a:avLst/>
          </a:prstGeom>
          <a:solidFill>
            <a:srgbClr val="2E6F40"/>
          </a:solidFill>
          <a:ln/>
        </p:spPr>
      </p:sp>
      <p:pic>
        <p:nvPicPr>
          <p:cNvPr id="11" name="Image 2" descr="C:\Users\Maxsys\AppData\Local\Temp\claude\d--AgriXAI-Farmer\9d658242-07c0-4b4a-b8de-708653b0dceb\scratchpad\pptx\icons\database.png">    </p:cNvPr>
          <p:cNvPicPr>
            <a:picLocks noChangeAspect="1"/>
          </p:cNvPicPr>
          <p:nvPr/>
        </p:nvPicPr>
        <p:blipFill>
          <a:blip r:embed="rId3"/>
          <a:stretch>
            <a:fillRect/>
          </a:stretch>
        </p:blipFill>
        <p:spPr>
          <a:xfrm>
            <a:off x="3583229" y="1912010"/>
            <a:ext cx="473659" cy="473659"/>
          </a:xfrm>
          <a:prstGeom prst="rect">
            <a:avLst/>
          </a:prstGeom>
        </p:spPr>
      </p:pic>
      <p:sp>
        <p:nvSpPr>
          <p:cNvPr id="12" name="Text 7"/>
          <p:cNvSpPr txBox="1"/>
          <p:nvPr/>
        </p:nvSpPr>
        <p:spPr>
          <a:xfrm>
            <a:off x="3938930" y="1691640"/>
            <a:ext cx="365760" cy="365760"/>
          </a:xfrm>
          <a:prstGeom prst="rect">
            <a:avLst/>
          </a:prstGeom>
          <a:noFill/>
          <a:ln/>
        </p:spPr>
        <p:txBody>
          <a:bodyPr wrap="square" lIns="0" tIns="0" rIns="0" bIns="0" rtlCol="0" anchor="ctr"/>
          <a:lstStyle/>
          <a:p>
            <a:pPr indent="0" marL="0">
              <a:buNone/>
            </a:pPr>
            <a:r>
              <a:rPr lang="en-US" sz="1300" b="1" dirty="0">
                <a:solidFill>
                  <a:srgbClr val="B9822A"/>
                </a:solidFill>
                <a:latin typeface="Calibri" pitchFamily="34" charset="0"/>
                <a:ea typeface="Calibri" pitchFamily="34" charset="-122"/>
                <a:cs typeface="Calibri" pitchFamily="34" charset="-120"/>
              </a:rPr>
              <a:t>2</a:t>
            </a:r>
            <a:endParaRPr lang="en-US" sz="1300" dirty="0"/>
          </a:p>
        </p:txBody>
      </p:sp>
      <p:sp>
        <p:nvSpPr>
          <p:cNvPr id="13" name="Text 8"/>
          <p:cNvSpPr txBox="1"/>
          <p:nvPr/>
        </p:nvSpPr>
        <p:spPr>
          <a:xfrm>
            <a:off x="3500018" y="2606040"/>
            <a:ext cx="2331720" cy="457200"/>
          </a:xfrm>
          <a:prstGeom prst="rect">
            <a:avLst/>
          </a:prstGeom>
          <a:noFill/>
          <a:ln/>
        </p:spPr>
        <p:txBody>
          <a:bodyPr wrap="square" lIns="0" tIns="0" rIns="0" bIns="0" rtlCol="0" anchor="ctr"/>
          <a:lstStyle/>
          <a:p>
            <a:pPr indent="0" marL="0">
              <a:buNone/>
            </a:pPr>
            <a:r>
              <a:rPr lang="en-US" sz="1400" b="1" dirty="0">
                <a:solidFill>
                  <a:srgbClr val="1C2B20"/>
                </a:solidFill>
                <a:latin typeface="Calibri" pitchFamily="34" charset="0"/>
                <a:ea typeface="Calibri" pitchFamily="34" charset="-122"/>
                <a:cs typeface="Calibri" pitchFamily="34" charset="-120"/>
              </a:rPr>
              <a:t>Cập nhật máy chủ</a:t>
            </a:r>
            <a:endParaRPr lang="en-US" sz="1400" dirty="0"/>
          </a:p>
        </p:txBody>
      </p:sp>
      <p:sp>
        <p:nvSpPr>
          <p:cNvPr id="14" name="Text 9"/>
          <p:cNvSpPr txBox="1"/>
          <p:nvPr/>
        </p:nvSpPr>
        <p:spPr>
          <a:xfrm>
            <a:off x="3500018" y="3035808"/>
            <a:ext cx="2331720" cy="1737360"/>
          </a:xfrm>
          <a:prstGeom prst="rect">
            <a:avLst/>
          </a:prstGeom>
          <a:noFill/>
          <a:ln/>
        </p:spPr>
        <p:txBody>
          <a:bodyPr wrap="square" lIns="0" tIns="0" rIns="0" bIns="0" rtlCol="0" anchor="ctr"/>
          <a:lstStyle/>
          <a:p>
            <a:pPr indent="0" marL="0">
              <a:lnSpc>
                <a:spcPct val="122000"/>
              </a:lnSpc>
              <a:buNone/>
            </a:pPr>
            <a:r>
              <a:rPr lang="en-US" sz="1100" dirty="0">
                <a:solidFill>
                  <a:srgbClr val="5B6B60"/>
                </a:solidFill>
                <a:latin typeface="Calibri" pitchFamily="34" charset="0"/>
                <a:ea typeface="Calibri" pitchFamily="34" charset="-122"/>
                <a:cs typeface="Calibri" pitchFamily="34" charset="-120"/>
              </a:rPr>
              <a:t>Tự thêm cột/bảng còn thiếu lúc khởi động (schema_upgrade.py), không dùng Alembic</a:t>
            </a:r>
            <a:endParaRPr lang="en-US" sz="1100" dirty="0"/>
          </a:p>
        </p:txBody>
      </p:sp>
      <p:pic>
        <p:nvPicPr>
          <p:cNvPr id="15" name="Image 3" descr="C:\Users\Maxsys\AppData\Local\Temp\claude\d--AgriXAI-Farmer\9d658242-07c0-4b4a-b8de-708653b0dceb\scratchpad\pptx\icons\arrow.png">    </p:cNvPr>
          <p:cNvPicPr>
            <a:picLocks noChangeAspect="1"/>
          </p:cNvPicPr>
          <p:nvPr/>
        </p:nvPicPr>
        <p:blipFill>
          <a:blip r:embed="rId4">
            <a:alphaModFix amt="40000"/>
          </a:blip>
          <a:stretch>
            <a:fillRect/>
          </a:stretch>
        </p:blipFill>
        <p:spPr>
          <a:xfrm>
            <a:off x="5976976" y="2011680"/>
            <a:ext cx="237744" cy="237744"/>
          </a:xfrm>
          <a:prstGeom prst="rect">
            <a:avLst/>
          </a:prstGeom>
        </p:spPr>
      </p:pic>
      <p:sp>
        <p:nvSpPr>
          <p:cNvPr id="16" name="Shape 10"/>
          <p:cNvSpPr/>
          <p:nvPr/>
        </p:nvSpPr>
        <p:spPr>
          <a:xfrm>
            <a:off x="6359957" y="1828800"/>
            <a:ext cx="640080" cy="640080"/>
          </a:xfrm>
          <a:prstGeom prst="ellipse">
            <a:avLst/>
          </a:prstGeom>
          <a:solidFill>
            <a:srgbClr val="2E6F40"/>
          </a:solidFill>
          <a:ln/>
        </p:spPr>
      </p:sp>
      <p:pic>
        <p:nvPicPr>
          <p:cNvPr id="17" name="Image 4" descr="C:\Users\Maxsys\AppData\Local\Temp\claude\d--AgriXAI-Farmer\9d658242-07c0-4b4a-b8de-708653b0dceb\scratchpad\pptx\icons\cloud.png">    </p:cNvPr>
          <p:cNvPicPr>
            <a:picLocks noChangeAspect="1"/>
          </p:cNvPicPr>
          <p:nvPr/>
        </p:nvPicPr>
        <p:blipFill>
          <a:blip r:embed="rId5"/>
          <a:stretch>
            <a:fillRect/>
          </a:stretch>
        </p:blipFill>
        <p:spPr>
          <a:xfrm>
            <a:off x="6443167" y="1912010"/>
            <a:ext cx="473659" cy="473659"/>
          </a:xfrm>
          <a:prstGeom prst="rect">
            <a:avLst/>
          </a:prstGeom>
        </p:spPr>
      </p:pic>
      <p:sp>
        <p:nvSpPr>
          <p:cNvPr id="18" name="Text 11"/>
          <p:cNvSpPr txBox="1"/>
          <p:nvPr/>
        </p:nvSpPr>
        <p:spPr>
          <a:xfrm>
            <a:off x="6798869" y="1691640"/>
            <a:ext cx="365760" cy="365760"/>
          </a:xfrm>
          <a:prstGeom prst="rect">
            <a:avLst/>
          </a:prstGeom>
          <a:noFill/>
          <a:ln/>
        </p:spPr>
        <p:txBody>
          <a:bodyPr wrap="square" lIns="0" tIns="0" rIns="0" bIns="0" rtlCol="0" anchor="ctr"/>
          <a:lstStyle/>
          <a:p>
            <a:pPr indent="0" marL="0">
              <a:buNone/>
            </a:pPr>
            <a:r>
              <a:rPr lang="en-US" sz="1300" b="1" dirty="0">
                <a:solidFill>
                  <a:srgbClr val="B9822A"/>
                </a:solidFill>
                <a:latin typeface="Calibri" pitchFamily="34" charset="0"/>
                <a:ea typeface="Calibri" pitchFamily="34" charset="-122"/>
                <a:cs typeface="Calibri" pitchFamily="34" charset="-120"/>
              </a:rPr>
              <a:t>3</a:t>
            </a:r>
            <a:endParaRPr lang="en-US" sz="1300" dirty="0"/>
          </a:p>
        </p:txBody>
      </p:sp>
      <p:sp>
        <p:nvSpPr>
          <p:cNvPr id="19" name="Text 12"/>
          <p:cNvSpPr txBox="1"/>
          <p:nvPr/>
        </p:nvSpPr>
        <p:spPr>
          <a:xfrm>
            <a:off x="6359957" y="2606040"/>
            <a:ext cx="2331720" cy="457200"/>
          </a:xfrm>
          <a:prstGeom prst="rect">
            <a:avLst/>
          </a:prstGeom>
          <a:noFill/>
          <a:ln/>
        </p:spPr>
        <p:txBody>
          <a:bodyPr wrap="square" lIns="0" tIns="0" rIns="0" bIns="0" rtlCol="0" anchor="ctr"/>
          <a:lstStyle/>
          <a:p>
            <a:pPr indent="0" marL="0">
              <a:buNone/>
            </a:pPr>
            <a:r>
              <a:rPr lang="en-US" sz="1400" b="1" dirty="0">
                <a:solidFill>
                  <a:srgbClr val="1C2B20"/>
                </a:solidFill>
                <a:latin typeface="Calibri" pitchFamily="34" charset="0"/>
                <a:ea typeface="Calibri" pitchFamily="34" charset="-122"/>
                <a:cs typeface="Calibri" pitchFamily="34" charset="-120"/>
              </a:rPr>
              <a:t>Nâng giới hạn nginx</a:t>
            </a:r>
            <a:endParaRPr lang="en-US" sz="1400" dirty="0"/>
          </a:p>
        </p:txBody>
      </p:sp>
      <p:sp>
        <p:nvSpPr>
          <p:cNvPr id="20" name="Text 13"/>
          <p:cNvSpPr txBox="1"/>
          <p:nvPr/>
        </p:nvSpPr>
        <p:spPr>
          <a:xfrm>
            <a:off x="6359957" y="3035808"/>
            <a:ext cx="2331720" cy="1737360"/>
          </a:xfrm>
          <a:prstGeom prst="rect">
            <a:avLst/>
          </a:prstGeom>
          <a:noFill/>
          <a:ln/>
        </p:spPr>
        <p:txBody>
          <a:bodyPr wrap="square" lIns="0" tIns="0" rIns="0" bIns="0" rtlCol="0" anchor="ctr"/>
          <a:lstStyle/>
          <a:p>
            <a:pPr indent="0" marL="0">
              <a:lnSpc>
                <a:spcPct val="122000"/>
              </a:lnSpc>
              <a:buNone/>
            </a:pPr>
            <a:r>
              <a:rPr lang="en-US" sz="1100" dirty="0">
                <a:solidFill>
                  <a:srgbClr val="5B6B60"/>
                </a:solidFill>
                <a:latin typeface="Calibri" pitchFamily="34" charset="0"/>
                <a:ea typeface="Calibri" pitchFamily="34" charset="-122"/>
                <a:cs typeface="Calibri" pitchFamily="34" charset="-120"/>
              </a:rPr>
              <a:t>client_max_body_size 110m — mặc định 1MB chặn hết ảnh/video</a:t>
            </a:r>
            <a:endParaRPr lang="en-US" sz="1100" dirty="0"/>
          </a:p>
        </p:txBody>
      </p:sp>
      <p:pic>
        <p:nvPicPr>
          <p:cNvPr id="21" name="Image 5" descr="C:\Users\Maxsys\AppData\Local\Temp\claude\d--AgriXAI-Farmer\9d658242-07c0-4b4a-b8de-708653b0dceb\scratchpad\pptx\icons\arrow.png">    </p:cNvPr>
          <p:cNvPicPr>
            <a:picLocks noChangeAspect="1"/>
          </p:cNvPicPr>
          <p:nvPr/>
        </p:nvPicPr>
        <p:blipFill>
          <a:blip r:embed="rId6">
            <a:alphaModFix amt="40000"/>
          </a:blip>
          <a:stretch>
            <a:fillRect/>
          </a:stretch>
        </p:blipFill>
        <p:spPr>
          <a:xfrm>
            <a:off x="8836914" y="2011680"/>
            <a:ext cx="237744" cy="237744"/>
          </a:xfrm>
          <a:prstGeom prst="rect">
            <a:avLst/>
          </a:prstGeom>
        </p:spPr>
      </p:pic>
      <p:sp>
        <p:nvSpPr>
          <p:cNvPr id="22" name="Shape 14"/>
          <p:cNvSpPr/>
          <p:nvPr/>
        </p:nvSpPr>
        <p:spPr>
          <a:xfrm>
            <a:off x="9219895" y="1828800"/>
            <a:ext cx="640080" cy="640080"/>
          </a:xfrm>
          <a:prstGeom prst="ellipse">
            <a:avLst/>
          </a:prstGeom>
          <a:solidFill>
            <a:srgbClr val="2E6F40"/>
          </a:solidFill>
          <a:ln/>
        </p:spPr>
      </p:sp>
      <p:pic>
        <p:nvPicPr>
          <p:cNvPr id="23" name="Image 6" descr="C:\Users\Maxsys\AppData\Local\Temp\claude\d--AgriXAI-Farmer\9d658242-07c0-4b4a-b8de-708653b0dceb\scratchpad\pptx\icons\mobile.png">    </p:cNvPr>
          <p:cNvPicPr>
            <a:picLocks noChangeAspect="1"/>
          </p:cNvPicPr>
          <p:nvPr/>
        </p:nvPicPr>
        <p:blipFill>
          <a:blip r:embed="rId7"/>
          <a:stretch>
            <a:fillRect/>
          </a:stretch>
        </p:blipFill>
        <p:spPr>
          <a:xfrm>
            <a:off x="9303106" y="1912010"/>
            <a:ext cx="473659" cy="473659"/>
          </a:xfrm>
          <a:prstGeom prst="rect">
            <a:avLst/>
          </a:prstGeom>
        </p:spPr>
      </p:pic>
      <p:sp>
        <p:nvSpPr>
          <p:cNvPr id="24" name="Text 15"/>
          <p:cNvSpPr txBox="1"/>
          <p:nvPr/>
        </p:nvSpPr>
        <p:spPr>
          <a:xfrm>
            <a:off x="9658807" y="1691640"/>
            <a:ext cx="365760" cy="365760"/>
          </a:xfrm>
          <a:prstGeom prst="rect">
            <a:avLst/>
          </a:prstGeom>
          <a:noFill/>
          <a:ln/>
        </p:spPr>
        <p:txBody>
          <a:bodyPr wrap="square" lIns="0" tIns="0" rIns="0" bIns="0" rtlCol="0" anchor="ctr"/>
          <a:lstStyle/>
          <a:p>
            <a:pPr indent="0" marL="0">
              <a:buNone/>
            </a:pPr>
            <a:r>
              <a:rPr lang="en-US" sz="1300" b="1" dirty="0">
                <a:solidFill>
                  <a:srgbClr val="B9822A"/>
                </a:solidFill>
                <a:latin typeface="Calibri" pitchFamily="34" charset="0"/>
                <a:ea typeface="Calibri" pitchFamily="34" charset="-122"/>
                <a:cs typeface="Calibri" pitchFamily="34" charset="-120"/>
              </a:rPr>
              <a:t>4</a:t>
            </a:r>
            <a:endParaRPr lang="en-US" sz="1300" dirty="0"/>
          </a:p>
        </p:txBody>
      </p:sp>
      <p:sp>
        <p:nvSpPr>
          <p:cNvPr id="25" name="Text 16"/>
          <p:cNvSpPr txBox="1"/>
          <p:nvPr/>
        </p:nvSpPr>
        <p:spPr>
          <a:xfrm>
            <a:off x="9219895" y="2606040"/>
            <a:ext cx="2331720" cy="457200"/>
          </a:xfrm>
          <a:prstGeom prst="rect">
            <a:avLst/>
          </a:prstGeom>
          <a:noFill/>
          <a:ln/>
        </p:spPr>
        <p:txBody>
          <a:bodyPr wrap="square" lIns="0" tIns="0" rIns="0" bIns="0" rtlCol="0" anchor="ctr"/>
          <a:lstStyle/>
          <a:p>
            <a:pPr indent="0" marL="0">
              <a:buNone/>
            </a:pPr>
            <a:r>
              <a:rPr lang="en-US" sz="1400" b="1" dirty="0">
                <a:solidFill>
                  <a:srgbClr val="1C2B20"/>
                </a:solidFill>
                <a:latin typeface="Calibri" pitchFamily="34" charset="0"/>
                <a:ea typeface="Calibri" pitchFamily="34" charset="-122"/>
                <a:cs typeface="Calibri" pitchFamily="34" charset="-120"/>
              </a:rPr>
              <a:t>Cập nhật app</a:t>
            </a:r>
            <a:endParaRPr lang="en-US" sz="1400" dirty="0"/>
          </a:p>
        </p:txBody>
      </p:sp>
      <p:sp>
        <p:nvSpPr>
          <p:cNvPr id="26" name="Text 17"/>
          <p:cNvSpPr txBox="1"/>
          <p:nvPr/>
        </p:nvSpPr>
        <p:spPr>
          <a:xfrm>
            <a:off x="9219895" y="3035808"/>
            <a:ext cx="2331720" cy="1737360"/>
          </a:xfrm>
          <a:prstGeom prst="rect">
            <a:avLst/>
          </a:prstGeom>
          <a:noFill/>
          <a:ln/>
        </p:spPr>
        <p:txBody>
          <a:bodyPr wrap="square" lIns="0" tIns="0" rIns="0" bIns="0" rtlCol="0" anchor="ctr"/>
          <a:lstStyle/>
          <a:p>
            <a:pPr indent="0" marL="0">
              <a:lnSpc>
                <a:spcPct val="122000"/>
              </a:lnSpc>
              <a:buNone/>
            </a:pPr>
            <a:r>
              <a:rPr lang="en-US" sz="1100" dirty="0">
                <a:solidFill>
                  <a:srgbClr val="5B6B60"/>
                </a:solidFill>
                <a:latin typeface="Calibri" pitchFamily="34" charset="0"/>
                <a:ea typeface="Calibri" pitchFamily="34" charset="-122"/>
                <a:cs typeface="Calibri" pitchFamily="34" charset="-120"/>
              </a:rPr>
              <a:t>Chỉ sau khi máy chủ đã chạy bản mới — app cũ + máy chủ mới an toàn, ngược lại thì mất dữ liệu</a:t>
            </a:r>
            <a:endParaRPr lang="en-US" sz="1100" dirty="0"/>
          </a:p>
        </p:txBody>
      </p:sp>
      <p:sp>
        <p:nvSpPr>
          <p:cNvPr id="27" name="Shape 18"/>
          <p:cNvSpPr/>
          <p:nvPr/>
        </p:nvSpPr>
        <p:spPr>
          <a:xfrm>
            <a:off x="640080" y="4937760"/>
            <a:ext cx="10881360" cy="1234440"/>
          </a:xfrm>
          <a:prstGeom prst="roundRect">
            <a:avLst>
              <a:gd name="adj" fmla="val 7407"/>
            </a:avLst>
          </a:prstGeom>
          <a:solidFill>
            <a:srgbClr val="1F4D2E"/>
          </a:solidFill>
          <a:ln/>
        </p:spPr>
      </p:sp>
      <p:sp>
        <p:nvSpPr>
          <p:cNvPr id="28" name="Text 19"/>
          <p:cNvSpPr txBox="1"/>
          <p:nvPr/>
        </p:nvSpPr>
        <p:spPr>
          <a:xfrm>
            <a:off x="960120" y="5120640"/>
            <a:ext cx="10241280" cy="914400"/>
          </a:xfrm>
          <a:prstGeom prst="rect">
            <a:avLst/>
          </a:prstGeom>
          <a:noFill/>
          <a:ln/>
        </p:spPr>
        <p:txBody>
          <a:bodyPr wrap="square" lIns="0" tIns="0" rIns="0" bIns="0" rtlCol="0" anchor="ctr"/>
          <a:lstStyle/>
          <a:p>
            <a:pPr indent="0" marL="0">
              <a:lnSpc>
                <a:spcPct val="125000"/>
              </a:lnSpc>
              <a:buNone/>
            </a:pPr>
            <a:r>
              <a:rPr lang="en-US" sz="1300" dirty="0">
                <a:solidFill>
                  <a:srgbClr val="F3F7F4"/>
                </a:solidFill>
                <a:latin typeface="Calibri" pitchFamily="34" charset="0"/>
                <a:ea typeface="Calibri" pitchFamily="34" charset="-122"/>
                <a:cs typeface="Calibri" pitchFamily="34" charset="-120"/>
              </a:rPr>
              <a:t>MEDIA_DIR phải là ổ gắn ngoài / Docker volume (-v agrilog-media:/data/media) — để trong container thì mỗi lần triển khai lại mất sạch ảnh.</a:t>
            </a:r>
            <a:endParaRPr lang="en-US" sz="1300" dirty="0"/>
          </a:p>
        </p:txBody>
      </p:sp>
      <p:sp>
        <p:nvSpPr>
          <p:cNvPr id="29" name="Text 20"/>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a:ln/>
        </p:spPr>
        <p:txBody>
          <a:bodyPr wrap="square" lIns="0" tIns="0" rIns="0" bIns="0" rtlCol="0" anchor="ctr"/>
          <a:lstStyle/>
          <a:p>
            <a:pPr indent="0" marL="0">
              <a:buNone/>
            </a:pPr>
            <a:r>
              <a:rPr lang="en-US" sz="1200" b="1" spc="200" kern="0" dirty="0">
                <a:solidFill>
                  <a:srgbClr val="B9822A"/>
                </a:solidFill>
                <a:latin typeface="Calibri" pitchFamily="34" charset="0"/>
                <a:ea typeface="Calibri" pitchFamily="34" charset="-122"/>
                <a:cs typeface="Calibri" pitchFamily="34" charset="-120"/>
              </a:rPr>
              <a:t>KẾT QUẢ</a:t>
            </a:r>
            <a:endParaRPr lang="en-US" sz="1200" dirty="0"/>
          </a:p>
        </p:txBody>
      </p:sp>
      <p:sp>
        <p:nvSpPr>
          <p:cNvPr id="3" name="Text 1"/>
          <p:cNvSpPr txBox="1"/>
          <p:nvPr/>
        </p:nvSpPr>
        <p:spPr>
          <a:xfrm>
            <a:off x="640080" y="777240"/>
            <a:ext cx="10515600" cy="502920"/>
          </a:xfrm>
          <a:prstGeom prst="rect">
            <a:avLst/>
          </a:prstGeom>
          <a:noFill/>
          <a:ln/>
        </p:spPr>
        <p:txBody>
          <a:bodyPr wrap="square" lIns="0" tIns="0" rIns="0" bIns="0" rtlCol="0" anchor="ctr"/>
          <a:lstStyle/>
          <a:p>
            <a:pPr indent="0" marL="0">
              <a:buNone/>
            </a:pPr>
            <a:r>
              <a:rPr lang="en-US" sz="2700" b="1" dirty="0">
                <a:solidFill>
                  <a:srgbClr val="1C2B20"/>
                </a:solidFill>
                <a:latin typeface="Cambria" pitchFamily="34" charset="0"/>
                <a:ea typeface="Cambria" pitchFamily="34" charset="-122"/>
                <a:cs typeface="Cambria" pitchFamily="34" charset="-120"/>
              </a:rPr>
              <a:t>Kết quả &amp; việc còn lại</a:t>
            </a:r>
            <a:endParaRPr lang="en-US" sz="2700" dirty="0"/>
          </a:p>
        </p:txBody>
      </p:sp>
      <p:sp>
        <p:nvSpPr>
          <p:cNvPr id="4" name="Shape 2"/>
          <p:cNvSpPr/>
          <p:nvPr/>
        </p:nvSpPr>
        <p:spPr>
          <a:xfrm>
            <a:off x="640080" y="1600200"/>
            <a:ext cx="5394960" cy="4617720"/>
          </a:xfrm>
          <a:prstGeom prst="roundRect">
            <a:avLst>
              <a:gd name="adj" fmla="val 2376"/>
            </a:avLst>
          </a:prstGeom>
          <a:solidFill>
            <a:srgbClr val="EAF3EC"/>
          </a:solidFill>
          <a:ln/>
        </p:spPr>
      </p:sp>
      <p:sp>
        <p:nvSpPr>
          <p:cNvPr id="5" name="Text 3"/>
          <p:cNvSpPr txBox="1"/>
          <p:nvPr/>
        </p:nvSpPr>
        <p:spPr>
          <a:xfrm>
            <a:off x="914400" y="1828800"/>
            <a:ext cx="4846320" cy="320040"/>
          </a:xfrm>
          <a:prstGeom prst="rect">
            <a:avLst/>
          </a:prstGeom>
          <a:noFill/>
          <a:ln/>
        </p:spPr>
        <p:txBody>
          <a:bodyPr wrap="square" lIns="0" tIns="0" rIns="0" bIns="0" rtlCol="0" anchor="ctr"/>
          <a:lstStyle/>
          <a:p>
            <a:pPr indent="0" marL="0">
              <a:buNone/>
            </a:pPr>
            <a:r>
              <a:rPr lang="en-US" sz="1400" b="1" dirty="0">
                <a:solidFill>
                  <a:srgbClr val="2E6F40"/>
                </a:solidFill>
                <a:latin typeface="Calibri" pitchFamily="34" charset="0"/>
                <a:ea typeface="Calibri" pitchFamily="34" charset="-122"/>
                <a:cs typeface="Calibri" pitchFamily="34" charset="-120"/>
              </a:rPr>
              <a:t>Kết quả</a:t>
            </a:r>
            <a:endParaRPr lang="en-US" sz="1400" dirty="0"/>
          </a:p>
        </p:txBody>
      </p:sp>
      <p:sp>
        <p:nvSpPr>
          <p:cNvPr id="6" name="Shape 4"/>
          <p:cNvSpPr/>
          <p:nvPr/>
        </p:nvSpPr>
        <p:spPr>
          <a:xfrm>
            <a:off x="960120" y="2423160"/>
            <a:ext cx="73152" cy="73152"/>
          </a:xfrm>
          <a:prstGeom prst="ellipse">
            <a:avLst/>
          </a:prstGeom>
          <a:solidFill>
            <a:srgbClr val="2E6F40"/>
          </a:solidFill>
          <a:ln/>
        </p:spPr>
      </p:sp>
      <p:sp>
        <p:nvSpPr>
          <p:cNvPr id="7" name="Text 5"/>
          <p:cNvSpPr txBox="1"/>
          <p:nvPr/>
        </p:nvSpPr>
        <p:spPr>
          <a:xfrm>
            <a:off x="1170432" y="2286000"/>
            <a:ext cx="4663440" cy="777240"/>
          </a:xfrm>
          <a:prstGeom prst="rect">
            <a:avLst/>
          </a:prstGeom>
          <a:noFill/>
          <a:ln/>
        </p:spPr>
        <p:txBody>
          <a:bodyPr wrap="square" lIns="0" tIns="0" rIns="0" bIns="0" rtlCol="0" anchor="ctr"/>
          <a:lstStyle/>
          <a:p>
            <a:pPr indent="0" marL="0">
              <a:lnSpc>
                <a:spcPct val="122000"/>
              </a:lnSpc>
              <a:buNone/>
            </a:pPr>
            <a:r>
              <a:rPr lang="en-US" sz="1250" dirty="0">
                <a:solidFill>
                  <a:srgbClr val="1C2B20"/>
                </a:solidFill>
                <a:latin typeface="Calibri" pitchFamily="34" charset="0"/>
                <a:ea typeface="Calibri" pitchFamily="34" charset="-122"/>
                <a:cs typeface="Calibri" pitchFamily="34" charset="-120"/>
              </a:rPr>
              <a:t>Nông hộ có gợi ý cây dựa trên năng suất thật của chính lô, không phải kinh nghiệm chung chung</a:t>
            </a:r>
            <a:endParaRPr lang="en-US" sz="1250" dirty="0"/>
          </a:p>
        </p:txBody>
      </p:sp>
      <p:sp>
        <p:nvSpPr>
          <p:cNvPr id="8" name="Shape 6"/>
          <p:cNvSpPr/>
          <p:nvPr/>
        </p:nvSpPr>
        <p:spPr>
          <a:xfrm>
            <a:off x="960120" y="3383280"/>
            <a:ext cx="73152" cy="73152"/>
          </a:xfrm>
          <a:prstGeom prst="ellipse">
            <a:avLst/>
          </a:prstGeom>
          <a:solidFill>
            <a:srgbClr val="2E6F40"/>
          </a:solidFill>
          <a:ln/>
        </p:spPr>
      </p:sp>
      <p:sp>
        <p:nvSpPr>
          <p:cNvPr id="9" name="Text 7"/>
          <p:cNvSpPr txBox="1"/>
          <p:nvPr/>
        </p:nvSpPr>
        <p:spPr>
          <a:xfrm>
            <a:off x="1170432" y="3246120"/>
            <a:ext cx="4663440" cy="777240"/>
          </a:xfrm>
          <a:prstGeom prst="rect">
            <a:avLst/>
          </a:prstGeom>
          <a:noFill/>
          <a:ln/>
        </p:spPr>
        <p:txBody>
          <a:bodyPr wrap="square" lIns="0" tIns="0" rIns="0" bIns="0" rtlCol="0" anchor="ctr"/>
          <a:lstStyle/>
          <a:p>
            <a:pPr indent="0" marL="0">
              <a:lnSpc>
                <a:spcPct val="122000"/>
              </a:lnSpc>
              <a:buNone/>
            </a:pPr>
            <a:r>
              <a:rPr lang="en-US" sz="1250" dirty="0">
                <a:solidFill>
                  <a:srgbClr val="1C2B20"/>
                </a:solidFill>
                <a:latin typeface="Calibri" pitchFamily="34" charset="0"/>
                <a:ea typeface="Calibri" pitchFamily="34" charset="-122"/>
                <a:cs typeface="Calibri" pitchFamily="34" charset="-120"/>
              </a:rPr>
              <a:t>Xem video hướng dẫn ngay trong app — không cần rời sang YouTube hay tìm lại link</a:t>
            </a:r>
            <a:endParaRPr lang="en-US" sz="1250" dirty="0"/>
          </a:p>
        </p:txBody>
      </p:sp>
      <p:sp>
        <p:nvSpPr>
          <p:cNvPr id="10" name="Shape 8"/>
          <p:cNvSpPr/>
          <p:nvPr/>
        </p:nvSpPr>
        <p:spPr>
          <a:xfrm>
            <a:off x="960120" y="4343400"/>
            <a:ext cx="73152" cy="73152"/>
          </a:xfrm>
          <a:prstGeom prst="ellipse">
            <a:avLst/>
          </a:prstGeom>
          <a:solidFill>
            <a:srgbClr val="2E6F40"/>
          </a:solidFill>
          <a:ln/>
        </p:spPr>
      </p:sp>
      <p:sp>
        <p:nvSpPr>
          <p:cNvPr id="11" name="Text 9"/>
          <p:cNvSpPr txBox="1"/>
          <p:nvPr/>
        </p:nvSpPr>
        <p:spPr>
          <a:xfrm>
            <a:off x="1170432" y="4206240"/>
            <a:ext cx="4663440" cy="777240"/>
          </a:xfrm>
          <a:prstGeom prst="rect">
            <a:avLst/>
          </a:prstGeom>
          <a:noFill/>
          <a:ln/>
        </p:spPr>
        <p:txBody>
          <a:bodyPr wrap="square" lIns="0" tIns="0" rIns="0" bIns="0" rtlCol="0" anchor="ctr"/>
          <a:lstStyle/>
          <a:p>
            <a:pPr indent="0" marL="0">
              <a:lnSpc>
                <a:spcPct val="122000"/>
              </a:lnSpc>
              <a:buNone/>
            </a:pPr>
            <a:r>
              <a:rPr lang="en-US" sz="1250" dirty="0">
                <a:solidFill>
                  <a:srgbClr val="1C2B20"/>
                </a:solidFill>
                <a:latin typeface="Calibri" pitchFamily="34" charset="0"/>
                <a:ea typeface="Calibri" pitchFamily="34" charset="-122"/>
                <a:cs typeface="Calibri" pitchFamily="34" charset="-120"/>
              </a:rPr>
              <a:t>Quy trình canh tác được ghi lại bằng ảnh/video, không chỉ chữ</a:t>
            </a:r>
            <a:endParaRPr lang="en-US" sz="1250" dirty="0"/>
          </a:p>
        </p:txBody>
      </p:sp>
      <p:sp>
        <p:nvSpPr>
          <p:cNvPr id="12" name="Shape 10"/>
          <p:cNvSpPr/>
          <p:nvPr/>
        </p:nvSpPr>
        <p:spPr>
          <a:xfrm>
            <a:off x="960120" y="5303520"/>
            <a:ext cx="73152" cy="73152"/>
          </a:xfrm>
          <a:prstGeom prst="ellipse">
            <a:avLst/>
          </a:prstGeom>
          <a:solidFill>
            <a:srgbClr val="2E6F40"/>
          </a:solidFill>
          <a:ln/>
        </p:spPr>
      </p:sp>
      <p:sp>
        <p:nvSpPr>
          <p:cNvPr id="13" name="Text 11"/>
          <p:cNvSpPr txBox="1"/>
          <p:nvPr/>
        </p:nvSpPr>
        <p:spPr>
          <a:xfrm>
            <a:off x="1170432" y="5166360"/>
            <a:ext cx="4663440" cy="777240"/>
          </a:xfrm>
          <a:prstGeom prst="rect">
            <a:avLst/>
          </a:prstGeom>
          <a:noFill/>
          <a:ln/>
        </p:spPr>
        <p:txBody>
          <a:bodyPr wrap="square" lIns="0" tIns="0" rIns="0" bIns="0" rtlCol="0" anchor="ctr"/>
          <a:lstStyle/>
          <a:p>
            <a:pPr indent="0" marL="0">
              <a:lnSpc>
                <a:spcPct val="122000"/>
              </a:lnSpc>
              <a:buNone/>
            </a:pPr>
            <a:r>
              <a:rPr lang="en-US" sz="1250" dirty="0">
                <a:solidFill>
                  <a:srgbClr val="1C2B20"/>
                </a:solidFill>
                <a:latin typeface="Calibri" pitchFamily="34" charset="0"/>
                <a:ea typeface="Calibri" pitchFamily="34" charset="-122"/>
                <a:cs typeface="Calibri" pitchFamily="34" charset="-120"/>
              </a:rPr>
              <a:t>Tiền công nhân công có mặt đủ trong báo cáo Thu – Chi hàng tháng</a:t>
            </a:r>
            <a:endParaRPr lang="en-US" sz="1250" dirty="0"/>
          </a:p>
        </p:txBody>
      </p:sp>
      <p:sp>
        <p:nvSpPr>
          <p:cNvPr id="14" name="Shape 12"/>
          <p:cNvSpPr/>
          <p:nvPr/>
        </p:nvSpPr>
        <p:spPr>
          <a:xfrm>
            <a:off x="6309360" y="1600200"/>
            <a:ext cx="5257800" cy="4617720"/>
          </a:xfrm>
          <a:prstGeom prst="roundRect">
            <a:avLst>
              <a:gd name="adj" fmla="val 2376"/>
            </a:avLst>
          </a:prstGeom>
          <a:solidFill>
            <a:srgbClr val="FFFFFF"/>
          </a:solidFill>
          <a:ln w="12700">
            <a:solidFill>
              <a:srgbClr val="D5E4D9"/>
            </a:solidFill>
            <a:prstDash val="solid"/>
          </a:ln>
        </p:spPr>
      </p:sp>
      <p:sp>
        <p:nvSpPr>
          <p:cNvPr id="15" name="Text 13"/>
          <p:cNvSpPr txBox="1"/>
          <p:nvPr/>
        </p:nvSpPr>
        <p:spPr>
          <a:xfrm>
            <a:off x="6583680" y="1828800"/>
            <a:ext cx="4754880" cy="320040"/>
          </a:xfrm>
          <a:prstGeom prst="rect">
            <a:avLst/>
          </a:prstGeom>
          <a:noFill/>
          <a:ln/>
        </p:spPr>
        <p:txBody>
          <a:bodyPr wrap="square" lIns="0" tIns="0" rIns="0" bIns="0" rtlCol="0" anchor="ctr"/>
          <a:lstStyle/>
          <a:p>
            <a:pPr indent="0" marL="0">
              <a:buNone/>
            </a:pPr>
            <a:r>
              <a:rPr lang="en-US" sz="1400" b="1" dirty="0">
                <a:solidFill>
                  <a:srgbClr val="7A8680"/>
                </a:solidFill>
                <a:latin typeface="Calibri" pitchFamily="34" charset="0"/>
                <a:ea typeface="Calibri" pitchFamily="34" charset="-122"/>
                <a:cs typeface="Calibri" pitchFamily="34" charset="-120"/>
              </a:rPr>
              <a:t>Giới hạn &amp; hướng tiếp theo</a:t>
            </a:r>
            <a:endParaRPr lang="en-US" sz="1400" dirty="0"/>
          </a:p>
        </p:txBody>
      </p:sp>
      <p:sp>
        <p:nvSpPr>
          <p:cNvPr id="16" name="Shape 14"/>
          <p:cNvSpPr/>
          <p:nvPr/>
        </p:nvSpPr>
        <p:spPr>
          <a:xfrm>
            <a:off x="6629400" y="2423160"/>
            <a:ext cx="73152" cy="73152"/>
          </a:xfrm>
          <a:prstGeom prst="ellipse">
            <a:avLst/>
          </a:prstGeom>
          <a:solidFill>
            <a:srgbClr val="B9822A"/>
          </a:solidFill>
          <a:ln/>
        </p:spPr>
      </p:sp>
      <p:sp>
        <p:nvSpPr>
          <p:cNvPr id="17" name="Text 15"/>
          <p:cNvSpPr txBox="1"/>
          <p:nvPr/>
        </p:nvSpPr>
        <p:spPr>
          <a:xfrm>
            <a:off x="6839712" y="228600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Gợi ý trồng xen / khoảng cách — chưa có nguồn nông học chính thống</a:t>
            </a:r>
            <a:endParaRPr lang="en-US" sz="1200" dirty="0"/>
          </a:p>
        </p:txBody>
      </p:sp>
      <p:sp>
        <p:nvSpPr>
          <p:cNvPr id="18" name="Shape 16"/>
          <p:cNvSpPr/>
          <p:nvPr/>
        </p:nvSpPr>
        <p:spPr>
          <a:xfrm>
            <a:off x="6629400" y="3246120"/>
            <a:ext cx="73152" cy="73152"/>
          </a:xfrm>
          <a:prstGeom prst="ellipse">
            <a:avLst/>
          </a:prstGeom>
          <a:solidFill>
            <a:srgbClr val="B9822A"/>
          </a:solidFill>
          <a:ln/>
        </p:spPr>
      </p:sp>
      <p:sp>
        <p:nvSpPr>
          <p:cNvPr id="19" name="Text 17"/>
          <p:cNvSpPr txBox="1"/>
          <p:nvPr/>
        </p:nvSpPr>
        <p:spPr>
          <a:xfrm>
            <a:off x="6839712" y="310896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Chưa build/test trên iOS (máy phát triển là Windows)</a:t>
            </a:r>
            <a:endParaRPr lang="en-US" sz="1200" dirty="0"/>
          </a:p>
        </p:txBody>
      </p:sp>
      <p:sp>
        <p:nvSpPr>
          <p:cNvPr id="20" name="Shape 18"/>
          <p:cNvSpPr/>
          <p:nvPr/>
        </p:nvSpPr>
        <p:spPr>
          <a:xfrm>
            <a:off x="6629400" y="4069080"/>
            <a:ext cx="73152" cy="73152"/>
          </a:xfrm>
          <a:prstGeom prst="ellipse">
            <a:avLst/>
          </a:prstGeom>
          <a:solidFill>
            <a:srgbClr val="B9822A"/>
          </a:solidFill>
          <a:ln/>
        </p:spPr>
      </p:sp>
      <p:sp>
        <p:nvSpPr>
          <p:cNvPr id="21" name="Text 19"/>
          <p:cNvSpPr txBox="1"/>
          <p:nvPr/>
        </p:nvSpPr>
        <p:spPr>
          <a:xfrm>
            <a:off x="6839712" y="393192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Quay video bằng camera của emulator bị crash — cần thử trên thiết bị Android thật</a:t>
            </a:r>
            <a:endParaRPr lang="en-US" sz="1200" dirty="0"/>
          </a:p>
        </p:txBody>
      </p:sp>
      <p:sp>
        <p:nvSpPr>
          <p:cNvPr id="22" name="Shape 20"/>
          <p:cNvSpPr/>
          <p:nvPr/>
        </p:nvSpPr>
        <p:spPr>
          <a:xfrm>
            <a:off x="6629400" y="4892040"/>
            <a:ext cx="73152" cy="73152"/>
          </a:xfrm>
          <a:prstGeom prst="ellipse">
            <a:avLst/>
          </a:prstGeom>
          <a:solidFill>
            <a:srgbClr val="B9822A"/>
          </a:solidFill>
          <a:ln/>
        </p:spPr>
      </p:sp>
      <p:sp>
        <p:nvSpPr>
          <p:cNvPr id="23" name="Text 21"/>
          <p:cNvSpPr txBox="1"/>
          <p:nvPr/>
        </p:nvSpPr>
        <p:spPr>
          <a:xfrm>
            <a:off x="6839712" y="475488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Chưa dọn tệp media mồ côi khi xoá ghi chú; chưa có rate limit riêng cho endpoint upload</a:t>
            </a:r>
            <a:endParaRPr lang="en-US" sz="1200" dirty="0"/>
          </a:p>
        </p:txBody>
      </p:sp>
      <p:sp>
        <p:nvSpPr>
          <p:cNvPr id="24" name="Shape 22"/>
          <p:cNvSpPr/>
          <p:nvPr/>
        </p:nvSpPr>
        <p:spPr>
          <a:xfrm>
            <a:off x="6629400" y="5715000"/>
            <a:ext cx="73152" cy="73152"/>
          </a:xfrm>
          <a:prstGeom prst="ellipse">
            <a:avLst/>
          </a:prstGeom>
          <a:solidFill>
            <a:srgbClr val="B9822A"/>
          </a:solidFill>
          <a:ln/>
        </p:spPr>
      </p:sp>
      <p:sp>
        <p:nvSpPr>
          <p:cNvPr id="25" name="Text 23"/>
          <p:cNvSpPr txBox="1"/>
          <p:nvPr/>
        </p:nvSpPr>
        <p:spPr>
          <a:xfrm>
            <a:off x="6839712" y="5577840"/>
            <a:ext cx="4572000" cy="777240"/>
          </a:xfrm>
          <a:prstGeom prst="rect">
            <a:avLst/>
          </a:prstGeom>
          <a:noFill/>
          <a:ln/>
        </p:spPr>
        <p:txBody>
          <a:bodyPr wrap="square" lIns="0" tIns="0" rIns="0" bIns="0" rtlCol="0" anchor="ctr"/>
          <a:lstStyle/>
          <a:p>
            <a:pPr indent="0" marL="0">
              <a:lnSpc>
                <a:spcPct val="120000"/>
              </a:lnSpc>
              <a:buNone/>
            </a:pPr>
            <a:r>
              <a:rPr lang="en-US" sz="1200" dirty="0">
                <a:solidFill>
                  <a:srgbClr val="5B6B60"/>
                </a:solidFill>
                <a:latin typeface="Calibri" pitchFamily="34" charset="0"/>
                <a:ea typeface="Calibri" pitchFamily="34" charset="-122"/>
                <a:cs typeface="Calibri" pitchFamily="34" charset="-120"/>
              </a:rPr>
              <a:t>Ảnh/video trên đĩa một máy chủ — mở rộng nhiều máy chủ thì cần S3/MinIO</a:t>
            </a:r>
            <a:endParaRPr lang="en-US" sz="1200" dirty="0"/>
          </a:p>
        </p:txBody>
      </p:sp>
      <p:sp>
        <p:nvSpPr>
          <p:cNvPr id="26" name="Text 24"/>
          <p:cNvSpPr txBox="1"/>
          <p:nvPr/>
        </p:nvSpPr>
        <p:spPr>
          <a:xfrm>
            <a:off x="11277295" y="6446520"/>
            <a:ext cx="731520" cy="274320"/>
          </a:xfrm>
          <a:prstGeom prst="rect">
            <a:avLst/>
          </a:prstGeom>
          <a:noFill/>
          <a:ln/>
        </p:spPr>
        <p:txBody>
          <a:bodyPr wrap="square" lIns="0" tIns="0" rIns="0" bIns="0" rtlCol="0" anchor="ctr"/>
          <a:lstStyle/>
          <a:p>
            <a:pPr algn="r" indent="0" marL="0">
              <a:buNone/>
            </a:pPr>
            <a:r>
              <a:rPr lang="en-US" sz="900" dirty="0">
                <a:solidFill>
                  <a:srgbClr val="7A8680"/>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D2E"/>
        </a:solidFill>
      </p:bgPr>
    </p:bg>
    <p:spTree>
      <p:nvGrpSpPr>
        <p:cNvPr id="1" name=""/>
        <p:cNvGrpSpPr/>
        <p:nvPr/>
      </p:nvGrpSpPr>
      <p:grpSpPr>
        <a:xfrm>
          <a:off x="0" y="0"/>
          <a:ext cx="0" cy="0"/>
          <a:chOff x="0" y="0"/>
          <a:chExt cx="0" cy="0"/>
        </a:xfrm>
      </p:grpSpPr>
      <p:sp>
        <p:nvSpPr>
          <p:cNvPr id="2" name="Shape 0"/>
          <p:cNvSpPr/>
          <p:nvPr/>
        </p:nvSpPr>
        <p:spPr>
          <a:xfrm>
            <a:off x="5638648" y="822960"/>
            <a:ext cx="914400" cy="914400"/>
          </a:xfrm>
          <a:prstGeom prst="ellipse">
            <a:avLst/>
          </a:prstGeom>
          <a:solidFill>
            <a:srgbClr val="2E6F40"/>
          </a:solidFill>
          <a:ln/>
        </p:spPr>
      </p:sp>
      <p:pic>
        <p:nvPicPr>
          <p:cNvPr id="3" name="Image 0" descr="C:\Users\Maxsys\AppData\Local\Temp\claude\d--AgriXAI-Farmer\9d658242-07c0-4b4a-b8de-708653b0dceb\scratchpad\pptx\icons\handshake.png">    </p:cNvPr>
          <p:cNvPicPr>
            <a:picLocks noChangeAspect="1"/>
          </p:cNvPicPr>
          <p:nvPr/>
        </p:nvPicPr>
        <p:blipFill>
          <a:blip r:embed="rId1"/>
          <a:stretch>
            <a:fillRect/>
          </a:stretch>
        </p:blipFill>
        <p:spPr>
          <a:xfrm>
            <a:off x="5757520" y="941832"/>
            <a:ext cx="676656" cy="676656"/>
          </a:xfrm>
          <a:prstGeom prst="rect">
            <a:avLst/>
          </a:prstGeom>
        </p:spPr>
      </p:pic>
      <p:sp>
        <p:nvSpPr>
          <p:cNvPr id="4" name="Text 1"/>
          <p:cNvSpPr txBox="1"/>
          <p:nvPr/>
        </p:nvSpPr>
        <p:spPr>
          <a:xfrm>
            <a:off x="0" y="1965960"/>
            <a:ext cx="12191695"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Cảm ơn — Hỏi &amp; Đáp</a:t>
            </a:r>
            <a:endParaRPr lang="en-US" sz="3800" dirty="0"/>
          </a:p>
        </p:txBody>
      </p:sp>
      <p:sp>
        <p:nvSpPr>
          <p:cNvPr id="5" name="Shape 2"/>
          <p:cNvSpPr/>
          <p:nvPr/>
        </p:nvSpPr>
        <p:spPr>
          <a:xfrm>
            <a:off x="4937760" y="2788920"/>
            <a:ext cx="2286000" cy="0"/>
          </a:xfrm>
          <a:prstGeom prst="line">
            <a:avLst/>
          </a:prstGeom>
          <a:noFill/>
          <a:ln w="12700">
            <a:solidFill>
              <a:srgbClr val="4C8A5C"/>
            </a:solidFill>
            <a:prstDash val="solid"/>
          </a:ln>
        </p:spPr>
      </p:sp>
      <p:sp>
        <p:nvSpPr>
          <p:cNvPr id="6" name="Text 3"/>
          <p:cNvSpPr txBox="1"/>
          <p:nvPr/>
        </p:nvSpPr>
        <p:spPr>
          <a:xfrm>
            <a:off x="2286000" y="3200400"/>
            <a:ext cx="3383280" cy="365760"/>
          </a:xfrm>
          <a:prstGeom prst="rect">
            <a:avLst/>
          </a:prstGeom>
          <a:noFill/>
          <a:ln/>
        </p:spPr>
        <p:txBody>
          <a:bodyPr wrap="square" lIns="0" tIns="0" rIns="0" bIns="0" rtlCol="0" anchor="ctr"/>
          <a:lstStyle/>
          <a:p>
            <a:pPr algn="ctr" indent="0" marL="0">
              <a:buNone/>
            </a:pPr>
            <a:r>
              <a:rPr lang="en-US" sz="1500" b="1" dirty="0">
                <a:solidFill>
                  <a:srgbClr val="D9A441"/>
                </a:solidFill>
                <a:latin typeface="Calibri" pitchFamily="34" charset="0"/>
                <a:ea typeface="Calibri" pitchFamily="34" charset="-122"/>
                <a:cs typeface="Calibri" pitchFamily="34" charset="-120"/>
              </a:rPr>
              <a:t>Thái</a:t>
            </a:r>
            <a:endParaRPr lang="en-US" sz="1500" dirty="0"/>
          </a:p>
        </p:txBody>
      </p:sp>
      <p:sp>
        <p:nvSpPr>
          <p:cNvPr id="7" name="Text 4"/>
          <p:cNvSpPr txBox="1"/>
          <p:nvPr/>
        </p:nvSpPr>
        <p:spPr>
          <a:xfrm>
            <a:off x="2286000" y="3566160"/>
            <a:ext cx="3383280" cy="320040"/>
          </a:xfrm>
          <a:prstGeom prst="rect">
            <a:avLst/>
          </a:prstGeom>
          <a:noFill/>
          <a:ln/>
        </p:spPr>
        <p:txBody>
          <a:bodyPr wrap="square" lIns="0" tIns="0" rIns="0" bIns="0" rtlCol="0" anchor="ctr"/>
          <a:lstStyle/>
          <a:p>
            <a:pPr algn="ctr" indent="0" marL="0">
              <a:buNone/>
            </a:pPr>
            <a:r>
              <a:rPr lang="en-US" sz="1150" dirty="0">
                <a:solidFill>
                  <a:srgbClr val="BFD9C8"/>
                </a:solidFill>
                <a:latin typeface="Calibri" pitchFamily="34" charset="0"/>
                <a:ea typeface="Calibri" pitchFamily="34" charset="-122"/>
                <a:cs typeface="Calibri" pitchFamily="34" charset="-120"/>
              </a:rPr>
              <a:t>lethanhthai0805@gmail.com</a:t>
            </a:r>
            <a:endParaRPr lang="en-US" sz="1150" dirty="0"/>
          </a:p>
        </p:txBody>
      </p:sp>
      <p:sp>
        <p:nvSpPr>
          <p:cNvPr id="8" name="Text 5"/>
          <p:cNvSpPr txBox="1"/>
          <p:nvPr/>
        </p:nvSpPr>
        <p:spPr>
          <a:xfrm>
            <a:off x="6492240" y="3200400"/>
            <a:ext cx="3383280" cy="365760"/>
          </a:xfrm>
          <a:prstGeom prst="rect">
            <a:avLst/>
          </a:prstGeom>
          <a:noFill/>
          <a:ln/>
        </p:spPr>
        <p:txBody>
          <a:bodyPr wrap="square" lIns="0" tIns="0" rIns="0" bIns="0" rtlCol="0" anchor="ctr"/>
          <a:lstStyle/>
          <a:p>
            <a:pPr algn="ctr" indent="0" marL="0">
              <a:buNone/>
            </a:pPr>
            <a:r>
              <a:rPr lang="en-US" sz="1500" b="1" dirty="0">
                <a:solidFill>
                  <a:srgbClr val="D9A441"/>
                </a:solidFill>
                <a:latin typeface="Calibri" pitchFamily="34" charset="0"/>
                <a:ea typeface="Calibri" pitchFamily="34" charset="-122"/>
                <a:cs typeface="Calibri" pitchFamily="34" charset="-120"/>
              </a:rPr>
              <a:t>Khoa</a:t>
            </a:r>
            <a:endParaRPr lang="en-US" sz="1500" dirty="0"/>
          </a:p>
        </p:txBody>
      </p:sp>
      <p:sp>
        <p:nvSpPr>
          <p:cNvPr id="9" name="Text 6"/>
          <p:cNvSpPr txBox="1"/>
          <p:nvPr/>
        </p:nvSpPr>
        <p:spPr>
          <a:xfrm>
            <a:off x="6492240" y="3566160"/>
            <a:ext cx="3383280" cy="320040"/>
          </a:xfrm>
          <a:prstGeom prst="rect">
            <a:avLst/>
          </a:prstGeom>
          <a:noFill/>
          <a:ln/>
        </p:spPr>
        <p:txBody>
          <a:bodyPr wrap="square" lIns="0" tIns="0" rIns="0" bIns="0" rtlCol="0" anchor="ctr"/>
          <a:lstStyle/>
          <a:p>
            <a:pPr algn="ctr" indent="0" marL="0">
              <a:buNone/>
            </a:pPr>
            <a:r>
              <a:rPr lang="en-US" sz="1150" dirty="0">
                <a:solidFill>
                  <a:srgbClr val="BFD9C8"/>
                </a:solidFill>
                <a:latin typeface="Calibri" pitchFamily="34" charset="0"/>
                <a:ea typeface="Calibri" pitchFamily="34" charset="-122"/>
                <a:cs typeface="Calibri" pitchFamily="34" charset="-120"/>
              </a:rPr>
              <a:t>nhakhoa1004@gmail.com</a:t>
            </a:r>
            <a:endParaRPr lang="en-US" sz="1150" dirty="0"/>
          </a:p>
        </p:txBody>
      </p:sp>
      <p:sp>
        <p:nvSpPr>
          <p:cNvPr id="10" name="Text 7"/>
          <p:cNvSpPr txBox="1"/>
          <p:nvPr/>
        </p:nvSpPr>
        <p:spPr>
          <a:xfrm>
            <a:off x="0" y="4297680"/>
            <a:ext cx="12191695" cy="365760"/>
          </a:xfrm>
          <a:prstGeom prst="rect">
            <a:avLst/>
          </a:prstGeom>
          <a:noFill/>
          <a:ln/>
        </p:spPr>
        <p:txBody>
          <a:bodyPr wrap="square" lIns="0" tIns="0" rIns="0" bIns="0" rtlCol="0" anchor="ctr"/>
          <a:lstStyle/>
          <a:p>
            <a:pPr algn="ctr" indent="0" marL="0">
              <a:buNone/>
            </a:pPr>
            <a:r>
              <a:rPr lang="en-US" sz="1300" dirty="0">
                <a:solidFill>
                  <a:srgbClr val="F3F7F4"/>
                </a:solidFill>
                <a:latin typeface="Calibri" pitchFamily="34" charset="0"/>
                <a:ea typeface="Calibri" pitchFamily="34" charset="-122"/>
                <a:cs typeface="Calibri" pitchFamily="34" charset="-120"/>
              </a:rPr>
              <a:t>github.com/ThaiTaka/AgriXAI-Farmer  ·  PR #8</a:t>
            </a:r>
            <a:endParaRPr lang="en-US" sz="1300" dirty="0"/>
          </a:p>
        </p:txBody>
      </p:sp>
      <p:sp>
        <p:nvSpPr>
          <p:cNvPr id="11" name="Text 8"/>
          <p:cNvSpPr txBox="1"/>
          <p:nvPr/>
        </p:nvSpPr>
        <p:spPr>
          <a:xfrm>
            <a:off x="0" y="6126480"/>
            <a:ext cx="12191695" cy="365760"/>
          </a:xfrm>
          <a:prstGeom prst="rect">
            <a:avLst/>
          </a:prstGeom>
          <a:noFill/>
          <a:ln/>
        </p:spPr>
        <p:txBody>
          <a:bodyPr wrap="square" lIns="0" tIns="0" rIns="0" bIns="0" rtlCol="0" anchor="ctr"/>
          <a:lstStyle/>
          <a:p>
            <a:pPr algn="ctr" indent="0" marL="0">
              <a:buNone/>
            </a:pPr>
            <a:r>
              <a:rPr lang="en-US" sz="1100" dirty="0">
                <a:solidFill>
                  <a:srgbClr val="4C8A5C"/>
                </a:solidFill>
                <a:latin typeface="Calibri" pitchFamily="34" charset="0"/>
                <a:ea typeface="Calibri" pitchFamily="34" charset="-122"/>
                <a:cs typeface="Calibri" pitchFamily="34" charset="-120"/>
              </a:rPr>
              <a:t>Bảo vệ đồ án tốt nghiệp  ·  30/09/2026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2026-09-24T23:06:24Z</dcterms:created>
  <dcterms:modified xsi:type="dcterms:W3CDTF">2026-09-24T23:06:24Z</dcterms:modified>
</cp:coreProperties>
</file>